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Raleway"/>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aleway-bold.fntdata"/><Relationship Id="rId23" Type="http://schemas.openxmlformats.org/officeDocument/2006/relationships/font" Target="fonts/Raleway-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aleway-boldItalic.fntdata"/><Relationship Id="rId25" Type="http://schemas.openxmlformats.org/officeDocument/2006/relationships/font" Target="fonts/Raleway-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1bb1de2f00d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1bb1de2f00d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Vinny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1bb1de2f00d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1bb1de2f00d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Vinny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1bb1de2f00d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1bb1de2f00d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Vinny</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1bb1de2f00d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1bb1de2f00d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Vinny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bb1de2f00d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1bb1de2f00d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Vinny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1bb1de2f00d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1bb1de2f00d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bb1de2f00d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bb1de2f00d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Andi - anonymous anteater</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bb1de2f00d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bb1de2f00d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Andi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1bb1de2f00d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1bb1de2f00d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Andi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bb1de2f00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1bb1de2f00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Andi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bb1de2f00d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bb1de2f00d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Jordan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bb1de2f00d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bb1de2f00d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Jordan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1bb1de2f00d_3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1bb1de2f00d_3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Anthony</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bb1de2f00d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1bb1de2f00d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Anthony</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bb1de2f00d_4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1bb1de2f00d_4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Anthony</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bb1de2f00d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1bb1de2f00d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Anthony</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485875" y="264475"/>
            <a:ext cx="8183700" cy="14736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2" name="Google Shape;12;p2"/>
          <p:cNvSpPr txBox="1"/>
          <p:nvPr>
            <p:ph idx="1" type="subTitle"/>
          </p:nvPr>
        </p:nvSpPr>
        <p:spPr>
          <a:xfrm>
            <a:off x="485875" y="1738075"/>
            <a:ext cx="8183700" cy="861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txBox="1"/>
          <p:nvPr>
            <p:ph type="title"/>
          </p:nvPr>
        </p:nvSpPr>
        <p:spPr>
          <a:xfrm>
            <a:off x="485875" y="1714500"/>
            <a:ext cx="8183700" cy="785700"/>
          </a:xfrm>
          <a:prstGeom prst="rect">
            <a:avLst/>
          </a:prstGeom>
        </p:spPr>
        <p:txBody>
          <a:bodyPr anchorCtr="0" anchor="b"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7" name="Google Shape;17;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9" name="Google Shape;29;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2"/>
        </a:solidFill>
      </p:bgPr>
    </p:bg>
    <p:spTree>
      <p:nvGrpSpPr>
        <p:cNvPr id="34" name="Shape 34"/>
        <p:cNvGrpSpPr/>
        <p:nvPr/>
      </p:nvGrpSpPr>
      <p:grpSpPr>
        <a:xfrm>
          <a:off x="0" y="0"/>
          <a:ext cx="0" cy="0"/>
          <a:chOff x="0" y="0"/>
          <a:chExt cx="0" cy="0"/>
        </a:xfrm>
      </p:grpSpPr>
      <p:sp>
        <p:nvSpPr>
          <p:cNvPr id="35" name="Google Shape;35;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6" name="Google Shape;36;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636800" y="80700"/>
            <a:ext cx="4426500" cy="4982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 name="Google Shape;39;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0" name="Google Shape;40;p9"/>
          <p:cNvSpPr txBox="1"/>
          <p:nvPr>
            <p:ph type="title"/>
          </p:nvPr>
        </p:nvSpPr>
        <p:spPr>
          <a:xfrm>
            <a:off x="265500" y="1181700"/>
            <a:ext cx="4045200" cy="153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1" name="Google Shape;41;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3" name="Google Shape;43;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6" name="Google Shape;46;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11"/>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1"/>
          <p:cNvSpPr txBox="1"/>
          <p:nvPr>
            <p:ph hasCustomPrompt="1" type="title"/>
          </p:nvPr>
        </p:nvSpPr>
        <p:spPr>
          <a:xfrm>
            <a:off x="311700" y="743001"/>
            <a:ext cx="8520600" cy="200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Font typeface="Source Sans Pro"/>
              <a:buNone/>
              <a:defRPr sz="12000">
                <a:latin typeface="Source Sans Pro"/>
                <a:ea typeface="Source Sans Pro"/>
                <a:cs typeface="Source Sans Pro"/>
                <a:sym typeface="Source Sans Pro"/>
              </a:defRPr>
            </a:lvl1pPr>
            <a:lvl2pPr lvl="1" algn="ctr">
              <a:spcBef>
                <a:spcPts val="0"/>
              </a:spcBef>
              <a:spcAft>
                <a:spcPts val="0"/>
              </a:spcAft>
              <a:buSzPts val="12000"/>
              <a:buFont typeface="Source Sans Pro"/>
              <a:buNone/>
              <a:defRPr sz="12000">
                <a:latin typeface="Source Sans Pro"/>
                <a:ea typeface="Source Sans Pro"/>
                <a:cs typeface="Source Sans Pro"/>
                <a:sym typeface="Source Sans Pro"/>
              </a:defRPr>
            </a:lvl2pPr>
            <a:lvl3pPr lvl="2" algn="ctr">
              <a:spcBef>
                <a:spcPts val="0"/>
              </a:spcBef>
              <a:spcAft>
                <a:spcPts val="0"/>
              </a:spcAft>
              <a:buSzPts val="12000"/>
              <a:buFont typeface="Source Sans Pro"/>
              <a:buNone/>
              <a:defRPr sz="12000">
                <a:latin typeface="Source Sans Pro"/>
                <a:ea typeface="Source Sans Pro"/>
                <a:cs typeface="Source Sans Pro"/>
                <a:sym typeface="Source Sans Pro"/>
              </a:defRPr>
            </a:lvl3pPr>
            <a:lvl4pPr lvl="3" algn="ctr">
              <a:spcBef>
                <a:spcPts val="0"/>
              </a:spcBef>
              <a:spcAft>
                <a:spcPts val="0"/>
              </a:spcAft>
              <a:buSzPts val="12000"/>
              <a:buFont typeface="Source Sans Pro"/>
              <a:buNone/>
              <a:defRPr sz="12000">
                <a:latin typeface="Source Sans Pro"/>
                <a:ea typeface="Source Sans Pro"/>
                <a:cs typeface="Source Sans Pro"/>
                <a:sym typeface="Source Sans Pro"/>
              </a:defRPr>
            </a:lvl4pPr>
            <a:lvl5pPr lvl="4" algn="ctr">
              <a:spcBef>
                <a:spcPts val="0"/>
              </a:spcBef>
              <a:spcAft>
                <a:spcPts val="0"/>
              </a:spcAft>
              <a:buSzPts val="12000"/>
              <a:buFont typeface="Source Sans Pro"/>
              <a:buNone/>
              <a:defRPr sz="12000">
                <a:latin typeface="Source Sans Pro"/>
                <a:ea typeface="Source Sans Pro"/>
                <a:cs typeface="Source Sans Pro"/>
                <a:sym typeface="Source Sans Pro"/>
              </a:defRPr>
            </a:lvl5pPr>
            <a:lvl6pPr lvl="5" algn="ctr">
              <a:spcBef>
                <a:spcPts val="0"/>
              </a:spcBef>
              <a:spcAft>
                <a:spcPts val="0"/>
              </a:spcAft>
              <a:buSzPts val="12000"/>
              <a:buFont typeface="Source Sans Pro"/>
              <a:buNone/>
              <a:defRPr sz="12000">
                <a:latin typeface="Source Sans Pro"/>
                <a:ea typeface="Source Sans Pro"/>
                <a:cs typeface="Source Sans Pro"/>
                <a:sym typeface="Source Sans Pro"/>
              </a:defRPr>
            </a:lvl6pPr>
            <a:lvl7pPr lvl="6" algn="ctr">
              <a:spcBef>
                <a:spcPts val="0"/>
              </a:spcBef>
              <a:spcAft>
                <a:spcPts val="0"/>
              </a:spcAft>
              <a:buSzPts val="12000"/>
              <a:buFont typeface="Source Sans Pro"/>
              <a:buNone/>
              <a:defRPr sz="12000">
                <a:latin typeface="Source Sans Pro"/>
                <a:ea typeface="Source Sans Pro"/>
                <a:cs typeface="Source Sans Pro"/>
                <a:sym typeface="Source Sans Pro"/>
              </a:defRPr>
            </a:lvl7pPr>
            <a:lvl8pPr lvl="7" algn="ctr">
              <a:spcBef>
                <a:spcPts val="0"/>
              </a:spcBef>
              <a:spcAft>
                <a:spcPts val="0"/>
              </a:spcAft>
              <a:buSzPts val="12000"/>
              <a:buFont typeface="Source Sans Pro"/>
              <a:buNone/>
              <a:defRPr sz="12000">
                <a:latin typeface="Source Sans Pro"/>
                <a:ea typeface="Source Sans Pro"/>
                <a:cs typeface="Source Sans Pro"/>
                <a:sym typeface="Source Sans Pro"/>
              </a:defRPr>
            </a:lvl8pPr>
            <a:lvl9pPr lvl="8" algn="ctr">
              <a:spcBef>
                <a:spcPts val="0"/>
              </a:spcBef>
              <a:spcAft>
                <a:spcPts val="0"/>
              </a:spcAft>
              <a:buSzPts val="12000"/>
              <a:buFont typeface="Source Sans Pro"/>
              <a:buNone/>
              <a:defRPr sz="12000">
                <a:latin typeface="Source Sans Pro"/>
                <a:ea typeface="Source Sans Pro"/>
                <a:cs typeface="Source Sans Pro"/>
                <a:sym typeface="Source Sans Pro"/>
              </a:defRPr>
            </a:lvl9pPr>
          </a:lstStyle>
          <a:p>
            <a:r>
              <a:t>xx%</a:t>
            </a:r>
          </a:p>
        </p:txBody>
      </p:sp>
      <p:sp>
        <p:nvSpPr>
          <p:cNvPr id="50" name="Google Shape;50;p11"/>
          <p:cNvSpPr txBox="1"/>
          <p:nvPr>
            <p:ph idx="1" type="body"/>
          </p:nvPr>
        </p:nvSpPr>
        <p:spPr>
          <a:xfrm>
            <a:off x="311700" y="2845182"/>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l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23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Source Sans Pro"/>
              <a:buChar char="●"/>
              <a:defRPr sz="1800">
                <a:solidFill>
                  <a:schemeClr val="lt2"/>
                </a:solidFill>
                <a:latin typeface="Source Sans Pro"/>
                <a:ea typeface="Source Sans Pro"/>
                <a:cs typeface="Source Sans Pro"/>
                <a:sym typeface="Source Sans Pro"/>
              </a:defRPr>
            </a:lvl1pPr>
            <a:lvl2pPr indent="-317500" lvl="1" marL="914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2pPr>
            <a:lvl3pPr indent="-317500" lvl="2" marL="1371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3pPr>
            <a:lvl4pPr indent="-317500" lvl="3" marL="1828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4pPr>
            <a:lvl5pPr indent="-317500" lvl="4" marL="22860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5pPr>
            <a:lvl6pPr indent="-317500" lvl="5" marL="27432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6pPr>
            <a:lvl7pPr indent="-317500" lvl="6" marL="3200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7pPr>
            <a:lvl8pPr indent="-317500" lvl="7" marL="3657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8pPr>
            <a:lvl9pPr indent="-317500" lvl="8" marL="4114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Source Sans Pro"/>
                <a:ea typeface="Source Sans Pro"/>
                <a:cs typeface="Source Sans Pro"/>
                <a:sym typeface="Source Sans Pro"/>
              </a:defRPr>
            </a:lvl1pPr>
            <a:lvl2pPr lvl="1" algn="r">
              <a:buNone/>
              <a:defRPr sz="1000">
                <a:solidFill>
                  <a:schemeClr val="lt2"/>
                </a:solidFill>
                <a:latin typeface="Source Sans Pro"/>
                <a:ea typeface="Source Sans Pro"/>
                <a:cs typeface="Source Sans Pro"/>
                <a:sym typeface="Source Sans Pro"/>
              </a:defRPr>
            </a:lvl2pPr>
            <a:lvl3pPr lvl="2" algn="r">
              <a:buNone/>
              <a:defRPr sz="1000">
                <a:solidFill>
                  <a:schemeClr val="lt2"/>
                </a:solidFill>
                <a:latin typeface="Source Sans Pro"/>
                <a:ea typeface="Source Sans Pro"/>
                <a:cs typeface="Source Sans Pro"/>
                <a:sym typeface="Source Sans Pro"/>
              </a:defRPr>
            </a:lvl3pPr>
            <a:lvl4pPr lvl="3" algn="r">
              <a:buNone/>
              <a:defRPr sz="1000">
                <a:solidFill>
                  <a:schemeClr val="lt2"/>
                </a:solidFill>
                <a:latin typeface="Source Sans Pro"/>
                <a:ea typeface="Source Sans Pro"/>
                <a:cs typeface="Source Sans Pro"/>
                <a:sym typeface="Source Sans Pro"/>
              </a:defRPr>
            </a:lvl4pPr>
            <a:lvl5pPr lvl="4" algn="r">
              <a:buNone/>
              <a:defRPr sz="1000">
                <a:solidFill>
                  <a:schemeClr val="lt2"/>
                </a:solidFill>
                <a:latin typeface="Source Sans Pro"/>
                <a:ea typeface="Source Sans Pro"/>
                <a:cs typeface="Source Sans Pro"/>
                <a:sym typeface="Source Sans Pro"/>
              </a:defRPr>
            </a:lvl5pPr>
            <a:lvl6pPr lvl="5" algn="r">
              <a:buNone/>
              <a:defRPr sz="1000">
                <a:solidFill>
                  <a:schemeClr val="lt2"/>
                </a:solidFill>
                <a:latin typeface="Source Sans Pro"/>
                <a:ea typeface="Source Sans Pro"/>
                <a:cs typeface="Source Sans Pro"/>
                <a:sym typeface="Source Sans Pro"/>
              </a:defRPr>
            </a:lvl6pPr>
            <a:lvl7pPr lvl="6" algn="r">
              <a:buNone/>
              <a:defRPr sz="1000">
                <a:solidFill>
                  <a:schemeClr val="lt2"/>
                </a:solidFill>
                <a:latin typeface="Source Sans Pro"/>
                <a:ea typeface="Source Sans Pro"/>
                <a:cs typeface="Source Sans Pro"/>
                <a:sym typeface="Source Sans Pro"/>
              </a:defRPr>
            </a:lvl7pPr>
            <a:lvl8pPr lvl="7" algn="r">
              <a:buNone/>
              <a:defRPr sz="1000">
                <a:solidFill>
                  <a:schemeClr val="lt2"/>
                </a:solidFill>
                <a:latin typeface="Source Sans Pro"/>
                <a:ea typeface="Source Sans Pro"/>
                <a:cs typeface="Source Sans Pro"/>
                <a:sym typeface="Source Sans Pro"/>
              </a:defRPr>
            </a:lvl8pPr>
            <a:lvl9pPr lvl="8" algn="r">
              <a:buNone/>
              <a:defRPr sz="1000">
                <a:solidFill>
                  <a:schemeClr val="lt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drive.google.com/drive/folders/1FQo4EzENPeWPP7U5MU7fSq17TN6Mc4c7?usp=share_link"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ctrTitle"/>
          </p:nvPr>
        </p:nvSpPr>
        <p:spPr>
          <a:xfrm>
            <a:off x="485875" y="264475"/>
            <a:ext cx="5100300" cy="1876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MKE Black</a:t>
            </a:r>
            <a:endParaRPr/>
          </a:p>
          <a:p>
            <a:pPr indent="0" lvl="0" marL="0" rtl="0" algn="l">
              <a:spcBef>
                <a:spcPts val="0"/>
              </a:spcBef>
              <a:spcAft>
                <a:spcPts val="0"/>
              </a:spcAft>
              <a:buNone/>
            </a:pPr>
            <a:r>
              <a:rPr lang="en"/>
              <a:t>Black City Collective</a:t>
            </a:r>
            <a:endParaRPr/>
          </a:p>
          <a:p>
            <a:pPr indent="0" lvl="0" marL="0" rtl="0" algn="l">
              <a:spcBef>
                <a:spcPts val="0"/>
              </a:spcBef>
              <a:spcAft>
                <a:spcPts val="0"/>
              </a:spcAft>
              <a:buNone/>
            </a:pPr>
            <a:r>
              <a:rPr lang="en"/>
              <a:t>Business Plan</a:t>
            </a:r>
            <a:endParaRPr/>
          </a:p>
        </p:txBody>
      </p:sp>
      <p:sp>
        <p:nvSpPr>
          <p:cNvPr id="59" name="Google Shape;59;p13"/>
          <p:cNvSpPr txBox="1"/>
          <p:nvPr>
            <p:ph idx="1" type="subTitle"/>
          </p:nvPr>
        </p:nvSpPr>
        <p:spPr>
          <a:xfrm>
            <a:off x="480150" y="2141250"/>
            <a:ext cx="8183700" cy="861000"/>
          </a:xfrm>
          <a:prstGeom prst="rect">
            <a:avLst/>
          </a:prstGeom>
        </p:spPr>
        <p:txBody>
          <a:bodyPr anchorCtr="0" anchor="t" bIns="91425" lIns="91425" spcFirstLastPara="1" rIns="91425" wrap="square" tIns="91425">
            <a:normAutofit fontScale="62500" lnSpcReduction="10000"/>
          </a:bodyPr>
          <a:lstStyle/>
          <a:p>
            <a:pPr indent="0" lvl="0" marL="0" rtl="0" algn="l">
              <a:spcBef>
                <a:spcPts val="0"/>
              </a:spcBef>
              <a:spcAft>
                <a:spcPts val="0"/>
              </a:spcAft>
              <a:buClr>
                <a:schemeClr val="dk2"/>
              </a:buClr>
              <a:buSzPct val="45833"/>
              <a:buFont typeface="Arial"/>
              <a:buNone/>
            </a:pPr>
            <a:r>
              <a:rPr lang="en"/>
              <a:t>Andi Hennessey, Anthony Om, Chris Hampton, Jake Petrie, Jordan Wright, Vicenzo Infusino</a:t>
            </a:r>
            <a:endParaRPr/>
          </a:p>
          <a:p>
            <a:pPr indent="0" lvl="0" marL="0" rtl="0" algn="l">
              <a:spcBef>
                <a:spcPts val="0"/>
              </a:spcBef>
              <a:spcAft>
                <a:spcPts val="0"/>
              </a:spcAft>
              <a:buClr>
                <a:schemeClr val="dk2"/>
              </a:buClr>
              <a:buSzPct val="45833"/>
              <a:buFont typeface="Arial"/>
              <a:buNone/>
            </a:pPr>
            <a:r>
              <a:t/>
            </a:r>
            <a:endParaRPr/>
          </a:p>
          <a:p>
            <a:pPr indent="0" lvl="0" marL="0" rtl="0" algn="l">
              <a:spcBef>
                <a:spcPts val="0"/>
              </a:spcBef>
              <a:spcAft>
                <a:spcPts val="0"/>
              </a:spcAft>
              <a:buNone/>
            </a:pPr>
            <a:r>
              <a:t/>
            </a:r>
            <a:endParaRPr/>
          </a:p>
        </p:txBody>
      </p:sp>
      <p:pic>
        <p:nvPicPr>
          <p:cNvPr id="60" name="Google Shape;60;p13"/>
          <p:cNvPicPr preferRelativeResize="0"/>
          <p:nvPr/>
        </p:nvPicPr>
        <p:blipFill>
          <a:blip r:embed="rId3">
            <a:alphaModFix/>
          </a:blip>
          <a:stretch>
            <a:fillRect/>
          </a:stretch>
        </p:blipFill>
        <p:spPr>
          <a:xfrm>
            <a:off x="6600575" y="264477"/>
            <a:ext cx="1876800" cy="18768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Product Info - Introduction</a:t>
            </a:r>
            <a:endParaRPr/>
          </a:p>
        </p:txBody>
      </p:sp>
      <p:sp>
        <p:nvSpPr>
          <p:cNvPr id="66" name="Google Shape;66;p14"/>
          <p:cNvSpPr txBox="1"/>
          <p:nvPr>
            <p:ph idx="1" type="body"/>
          </p:nvPr>
        </p:nvSpPr>
        <p:spPr>
          <a:xfrm>
            <a:off x="311700" y="1152475"/>
            <a:ext cx="8520600" cy="4046700"/>
          </a:xfrm>
          <a:prstGeom prst="rect">
            <a:avLst/>
          </a:prstGeom>
        </p:spPr>
        <p:txBody>
          <a:bodyPr anchorCtr="0" anchor="t" bIns="91425" lIns="91425" spcFirstLastPara="1" rIns="91425" wrap="square" tIns="91425">
            <a:normAutofit lnSpcReduction="10000"/>
          </a:bodyPr>
          <a:lstStyle/>
          <a:p>
            <a:pPr indent="-342900" lvl="0" marL="457200" rtl="0" algn="l">
              <a:lnSpc>
                <a:spcPct val="150000"/>
              </a:lnSpc>
              <a:spcBef>
                <a:spcPts val="0"/>
              </a:spcBef>
              <a:spcAft>
                <a:spcPts val="0"/>
              </a:spcAft>
              <a:buClr>
                <a:schemeClr val="dk2"/>
              </a:buClr>
              <a:buSzPts val="1800"/>
              <a:buChar char="●"/>
            </a:pPr>
            <a:r>
              <a:rPr lang="en">
                <a:solidFill>
                  <a:schemeClr val="dk2"/>
                </a:solidFill>
              </a:rPr>
              <a:t> Design a website to host BLK City Collective for the MKE Black Company, so they can distribute it as a framework to other cities across the US.</a:t>
            </a:r>
            <a:endParaRPr>
              <a:solidFill>
                <a:schemeClr val="dk2"/>
              </a:solidFill>
            </a:endParaRPr>
          </a:p>
          <a:p>
            <a:pPr indent="-317500" lvl="1" marL="914400" rtl="0" algn="l">
              <a:lnSpc>
                <a:spcPct val="150000"/>
              </a:lnSpc>
              <a:spcBef>
                <a:spcPts val="0"/>
              </a:spcBef>
              <a:spcAft>
                <a:spcPts val="0"/>
              </a:spcAft>
              <a:buClr>
                <a:schemeClr val="dk2"/>
              </a:buClr>
              <a:buSzPts val="1400"/>
              <a:buChar char="○"/>
            </a:pPr>
            <a:r>
              <a:rPr lang="en">
                <a:solidFill>
                  <a:schemeClr val="dk2"/>
                </a:solidFill>
              </a:rPr>
              <a:t>Goal: Bring representation of local minority owned businesses in each city</a:t>
            </a:r>
            <a:endParaRPr>
              <a:solidFill>
                <a:schemeClr val="dk2"/>
              </a:solidFill>
            </a:endParaRPr>
          </a:p>
          <a:p>
            <a:pPr indent="-342900" lvl="0" marL="457200" rtl="0" algn="l">
              <a:lnSpc>
                <a:spcPct val="150000"/>
              </a:lnSpc>
              <a:spcBef>
                <a:spcPts val="0"/>
              </a:spcBef>
              <a:spcAft>
                <a:spcPts val="0"/>
              </a:spcAft>
              <a:buClr>
                <a:schemeClr val="dk2"/>
              </a:buClr>
              <a:buSzPts val="1800"/>
              <a:buChar char="●"/>
            </a:pPr>
            <a:r>
              <a:rPr lang="en">
                <a:solidFill>
                  <a:schemeClr val="dk2"/>
                </a:solidFill>
              </a:rPr>
              <a:t>Provide business information such as type of business, location, products, as well as the bio of the business itself, and it will also provide a site for community members to locate and interact with minority owned businesses in their region.</a:t>
            </a:r>
            <a:endParaRPr>
              <a:solidFill>
                <a:schemeClr val="dk2"/>
              </a:solidFill>
            </a:endParaRPr>
          </a:p>
          <a:p>
            <a:pPr indent="-342900" lvl="0" marL="457200" rtl="0" algn="l">
              <a:lnSpc>
                <a:spcPct val="150000"/>
              </a:lnSpc>
              <a:spcBef>
                <a:spcPts val="0"/>
              </a:spcBef>
              <a:spcAft>
                <a:spcPts val="0"/>
              </a:spcAft>
              <a:buClr>
                <a:schemeClr val="dk2"/>
              </a:buClr>
              <a:buSzPts val="1800"/>
              <a:buChar char="●"/>
            </a:pPr>
            <a:r>
              <a:rPr b="1" lang="en" u="sng">
                <a:solidFill>
                  <a:schemeClr val="dk2"/>
                </a:solidFill>
              </a:rPr>
              <a:t>Goal</a:t>
            </a:r>
            <a:r>
              <a:rPr b="1" lang="en">
                <a:solidFill>
                  <a:schemeClr val="dk2"/>
                </a:solidFill>
              </a:rPr>
              <a:t>:</a:t>
            </a:r>
            <a:r>
              <a:rPr lang="en">
                <a:solidFill>
                  <a:schemeClr val="dk2"/>
                </a:solidFill>
              </a:rPr>
              <a:t> To help communities that are traditionally underrepresented and to elevate their </a:t>
            </a:r>
            <a:r>
              <a:rPr lang="en">
                <a:solidFill>
                  <a:schemeClr val="dk2"/>
                </a:solidFill>
              </a:rPr>
              <a:t>presences</a:t>
            </a:r>
            <a:r>
              <a:rPr lang="en">
                <a:solidFill>
                  <a:schemeClr val="dk2"/>
                </a:solidFill>
              </a:rPr>
              <a:t> in their respective regions.</a:t>
            </a:r>
            <a:endParaRPr>
              <a:solidFill>
                <a:schemeClr val="dk2"/>
              </a:solidFill>
            </a:endParaRPr>
          </a:p>
          <a:p>
            <a:pPr indent="-317500" lvl="1" marL="914400" rtl="0" algn="l">
              <a:lnSpc>
                <a:spcPct val="150000"/>
              </a:lnSpc>
              <a:spcBef>
                <a:spcPts val="0"/>
              </a:spcBef>
              <a:spcAft>
                <a:spcPts val="0"/>
              </a:spcAft>
              <a:buClr>
                <a:schemeClr val="dk2"/>
              </a:buClr>
              <a:buSzPts val="1400"/>
              <a:buChar char="○"/>
            </a:pPr>
            <a:r>
              <a:rPr lang="en">
                <a:solidFill>
                  <a:schemeClr val="dk2"/>
                </a:solidFill>
              </a:rPr>
              <a:t>“Put the UNITY back in Community”</a:t>
            </a:r>
            <a:endParaRPr>
              <a:solidFill>
                <a:schemeClr val="dk2"/>
              </a:solidFill>
            </a:endParaRPr>
          </a:p>
          <a:p>
            <a:pPr indent="-317500" lvl="1" marL="914400" rtl="0" algn="l">
              <a:lnSpc>
                <a:spcPct val="150000"/>
              </a:lnSpc>
              <a:spcBef>
                <a:spcPts val="0"/>
              </a:spcBef>
              <a:spcAft>
                <a:spcPts val="0"/>
              </a:spcAft>
              <a:buClr>
                <a:schemeClr val="dk2"/>
              </a:buClr>
              <a:buSzPts val="1400"/>
              <a:buChar char="○"/>
            </a:pPr>
            <a:r>
              <a:rPr lang="en">
                <a:solidFill>
                  <a:schemeClr val="dk2"/>
                </a:solidFill>
              </a:rPr>
              <a:t>Allow members of underrepresented communities to find these minority owned businesses and support them intentionally - targeting young adults in these communities</a:t>
            </a:r>
            <a:endParaRPr>
              <a:solidFill>
                <a:schemeClr val="dk2"/>
              </a:solidFill>
            </a:endParaRPr>
          </a:p>
        </p:txBody>
      </p:sp>
      <p:pic>
        <p:nvPicPr>
          <p:cNvPr id="67" name="Google Shape;67;p14"/>
          <p:cNvPicPr preferRelativeResize="0"/>
          <p:nvPr/>
        </p:nvPicPr>
        <p:blipFill>
          <a:blip r:embed="rId3">
            <a:alphaModFix/>
          </a:blip>
          <a:stretch>
            <a:fillRect/>
          </a:stretch>
        </p:blipFill>
        <p:spPr>
          <a:xfrm>
            <a:off x="7987426" y="1"/>
            <a:ext cx="1156575" cy="11565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User Stories - Business</a:t>
            </a:r>
            <a:endParaRPr/>
          </a:p>
        </p:txBody>
      </p:sp>
      <p:sp>
        <p:nvSpPr>
          <p:cNvPr id="73" name="Google Shape;73;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2"/>
                </a:solidFill>
              </a:rPr>
              <a:t>Jacob is a 32 year old black business owner that started his own musical instrument business in Jackson, Mississippi. The business itself specializes in the selling, and repairing of a variety of musical instruments. From woodwind instruments to big brass instruments, but Jacob’s business also offers African Drumming lessons for those that are interested. The problem he has is advertising his business to the local community, and his current advertising methods aren’t leaving much of an impact in the community. Flyers, signs, and a small social media presence fail to bring in enough customers to turn a proper profit. What Jacob would like is a platform where he could post information about his business and location, and share that to all of those in the local community that use this same web platform.</a:t>
            </a:r>
            <a:endParaRPr>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User Stories - Consumer</a:t>
            </a:r>
            <a:endParaRPr/>
          </a:p>
        </p:txBody>
      </p:sp>
      <p:sp>
        <p:nvSpPr>
          <p:cNvPr id="79" name="Google Shape;79;p16"/>
          <p:cNvSpPr txBox="1"/>
          <p:nvPr>
            <p:ph idx="1" type="body"/>
          </p:nvPr>
        </p:nvSpPr>
        <p:spPr>
          <a:xfrm>
            <a:off x="311700" y="1152475"/>
            <a:ext cx="8520600" cy="3713400"/>
          </a:xfrm>
          <a:prstGeom prst="rect">
            <a:avLst/>
          </a:prstGeom>
        </p:spPr>
        <p:txBody>
          <a:bodyPr anchorCtr="0" anchor="t" bIns="91425" lIns="91425" spcFirstLastPara="1" rIns="91425" wrap="square" tIns="91425">
            <a:normAutofit fontScale="25000" lnSpcReduction="20000"/>
          </a:bodyPr>
          <a:lstStyle/>
          <a:p>
            <a:pPr indent="0" lvl="0" marL="0" rtl="0" algn="l">
              <a:lnSpc>
                <a:spcPct val="150000"/>
              </a:lnSpc>
              <a:spcBef>
                <a:spcPts val="0"/>
              </a:spcBef>
              <a:spcAft>
                <a:spcPts val="0"/>
              </a:spcAft>
              <a:buClr>
                <a:schemeClr val="dk2"/>
              </a:buClr>
              <a:buSzPts val="275"/>
              <a:buFont typeface="Arial"/>
              <a:buNone/>
            </a:pPr>
            <a:r>
              <a:rPr lang="en" sz="6473">
                <a:solidFill>
                  <a:schemeClr val="dk2"/>
                </a:solidFill>
              </a:rPr>
              <a:t>Jalah is a 25 year old recent college graduate from Loyola Chicago, and she recently moved to Atlanta, Georgia after pursuing a full-time job opportunity. She’s never visited Atlanta before, and she’s been pretty homesick as of late since her family lives in Chicago, and she has had a hard time making new friends within her community. Also, since her parents are immigrants from Nigeria, she misses their homestyle Nigerian cooking. Jalah has been seeking a way to connect with fellow community members as well as finding local Nigerian restaurants that serve authentic food. In addition, Jalah believes that websites like Yelp and Tripadvisor are too generic for her, and she desires to use a website that is more locally and community focused. Overall, her goal is to utilize a website that will help connect her with the Atlanta community around her, and find restaurants and other businesses that provide Nigerian food and products to connect her with home. </a:t>
            </a:r>
            <a:endParaRPr sz="6473">
              <a:solidFill>
                <a:schemeClr val="dk2"/>
              </a:solidFill>
            </a:endParaRPr>
          </a:p>
          <a:p>
            <a:pPr indent="0" lvl="0" marL="0" rtl="0" algn="l">
              <a:spcBef>
                <a:spcPts val="1200"/>
              </a:spcBef>
              <a:spcAft>
                <a:spcPts val="0"/>
              </a:spcAft>
              <a:buClr>
                <a:schemeClr val="dk2"/>
              </a:buClr>
              <a:buSzPct val="61111"/>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21175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Stakeholders</a:t>
            </a:r>
            <a:endParaRPr/>
          </a:p>
        </p:txBody>
      </p:sp>
      <p:sp>
        <p:nvSpPr>
          <p:cNvPr id="85" name="Google Shape;85;p17"/>
          <p:cNvSpPr txBox="1"/>
          <p:nvPr>
            <p:ph idx="1" type="body"/>
          </p:nvPr>
        </p:nvSpPr>
        <p:spPr>
          <a:xfrm>
            <a:off x="311700" y="779600"/>
            <a:ext cx="8520600" cy="4075200"/>
          </a:xfrm>
          <a:prstGeom prst="rect">
            <a:avLst/>
          </a:prstGeom>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chemeClr val="dk2"/>
              </a:buClr>
              <a:buSzPts val="1400"/>
              <a:buChar char="●"/>
            </a:pPr>
            <a:r>
              <a:rPr b="1" lang="en" sz="1400">
                <a:solidFill>
                  <a:schemeClr val="dk2"/>
                </a:solidFill>
              </a:rPr>
              <a:t>Consumers/Users of the BLK City Collective Website - Specifically Young Adults</a:t>
            </a:r>
            <a:endParaRPr b="1" sz="1400">
              <a:solidFill>
                <a:schemeClr val="dk2"/>
              </a:solidFill>
            </a:endParaRPr>
          </a:p>
          <a:p>
            <a:pPr indent="-304800" lvl="1" marL="914400" rtl="0" algn="l">
              <a:lnSpc>
                <a:spcPct val="150000"/>
              </a:lnSpc>
              <a:spcBef>
                <a:spcPts val="0"/>
              </a:spcBef>
              <a:spcAft>
                <a:spcPts val="0"/>
              </a:spcAft>
              <a:buClr>
                <a:schemeClr val="dk2"/>
              </a:buClr>
              <a:buSzPts val="1200"/>
              <a:buChar char="○"/>
            </a:pPr>
            <a:r>
              <a:rPr lang="en" sz="1200">
                <a:solidFill>
                  <a:schemeClr val="dk2"/>
                </a:solidFill>
              </a:rPr>
              <a:t>Young adults are the primary user and target group of the BLK City Collective Website</a:t>
            </a:r>
            <a:endParaRPr sz="1200">
              <a:solidFill>
                <a:schemeClr val="dk2"/>
              </a:solidFill>
            </a:endParaRPr>
          </a:p>
          <a:p>
            <a:pPr indent="-304800" lvl="1" marL="914400" rtl="0" algn="l">
              <a:lnSpc>
                <a:spcPct val="150000"/>
              </a:lnSpc>
              <a:spcBef>
                <a:spcPts val="0"/>
              </a:spcBef>
              <a:spcAft>
                <a:spcPts val="0"/>
              </a:spcAft>
              <a:buClr>
                <a:schemeClr val="dk2"/>
              </a:buClr>
              <a:buSzPts val="1200"/>
              <a:buChar char="○"/>
            </a:pPr>
            <a:r>
              <a:rPr lang="en" sz="1200">
                <a:solidFill>
                  <a:schemeClr val="dk2"/>
                </a:solidFill>
              </a:rPr>
              <a:t>Will be the ones that use the BLK City Collective Website the most to find Black owned-businesses/events, and to learn more about Black owned businesses and events in the community. </a:t>
            </a:r>
            <a:endParaRPr sz="1200">
              <a:solidFill>
                <a:schemeClr val="dk2"/>
              </a:solidFill>
            </a:endParaRPr>
          </a:p>
          <a:p>
            <a:pPr indent="-317500" lvl="0" marL="457200" rtl="0" algn="l">
              <a:lnSpc>
                <a:spcPct val="150000"/>
              </a:lnSpc>
              <a:spcBef>
                <a:spcPts val="0"/>
              </a:spcBef>
              <a:spcAft>
                <a:spcPts val="0"/>
              </a:spcAft>
              <a:buClr>
                <a:schemeClr val="dk2"/>
              </a:buClr>
              <a:buSzPts val="1400"/>
              <a:buChar char="●"/>
            </a:pPr>
            <a:r>
              <a:rPr b="1" lang="en" sz="1400">
                <a:solidFill>
                  <a:schemeClr val="dk2"/>
                </a:solidFill>
              </a:rPr>
              <a:t>Business Owners that will be featured on BLK City Collective Website </a:t>
            </a:r>
            <a:endParaRPr b="1" sz="1400">
              <a:solidFill>
                <a:schemeClr val="dk2"/>
              </a:solidFill>
            </a:endParaRPr>
          </a:p>
          <a:p>
            <a:pPr indent="-304800" lvl="1" marL="914400" rtl="0" algn="l">
              <a:lnSpc>
                <a:spcPct val="150000"/>
              </a:lnSpc>
              <a:spcBef>
                <a:spcPts val="0"/>
              </a:spcBef>
              <a:spcAft>
                <a:spcPts val="0"/>
              </a:spcAft>
              <a:buClr>
                <a:schemeClr val="dk2"/>
              </a:buClr>
              <a:buSzPts val="1200"/>
              <a:buChar char="○"/>
            </a:pPr>
            <a:r>
              <a:rPr lang="en" sz="1200">
                <a:solidFill>
                  <a:schemeClr val="dk2"/>
                </a:solidFill>
              </a:rPr>
              <a:t>Will be the ones responsible for providing accurate information about their business for the BLK City Collective website, and the most important stakeholder for this website to succeed. </a:t>
            </a:r>
            <a:endParaRPr sz="1200">
              <a:solidFill>
                <a:schemeClr val="dk2"/>
              </a:solidFill>
            </a:endParaRPr>
          </a:p>
          <a:p>
            <a:pPr indent="-317500" lvl="0" marL="457200" rtl="0" algn="l">
              <a:lnSpc>
                <a:spcPct val="150000"/>
              </a:lnSpc>
              <a:spcBef>
                <a:spcPts val="0"/>
              </a:spcBef>
              <a:spcAft>
                <a:spcPts val="0"/>
              </a:spcAft>
              <a:buClr>
                <a:schemeClr val="dk2"/>
              </a:buClr>
              <a:buSzPts val="1400"/>
              <a:buChar char="●"/>
            </a:pPr>
            <a:r>
              <a:rPr b="1" lang="en" sz="1400">
                <a:solidFill>
                  <a:schemeClr val="dk2"/>
                </a:solidFill>
              </a:rPr>
              <a:t>MKE Black Company Executives</a:t>
            </a:r>
            <a:endParaRPr b="1" sz="1400">
              <a:solidFill>
                <a:schemeClr val="dk2"/>
              </a:solidFill>
            </a:endParaRPr>
          </a:p>
          <a:p>
            <a:pPr indent="-304800" lvl="1" marL="914400" rtl="0" algn="l">
              <a:lnSpc>
                <a:spcPct val="150000"/>
              </a:lnSpc>
              <a:spcBef>
                <a:spcPts val="0"/>
              </a:spcBef>
              <a:spcAft>
                <a:spcPts val="0"/>
              </a:spcAft>
              <a:buClr>
                <a:schemeClr val="dk2"/>
              </a:buClr>
              <a:buSzPts val="1200"/>
              <a:buChar char="○"/>
            </a:pPr>
            <a:r>
              <a:rPr lang="en" sz="1200">
                <a:solidFill>
                  <a:schemeClr val="dk2"/>
                </a:solidFill>
              </a:rPr>
              <a:t>The MKE Black Company Executives will be the ones selling BLK City Collective to other cities and working with legal terms of BLK City Collective</a:t>
            </a:r>
            <a:endParaRPr sz="1200">
              <a:solidFill>
                <a:schemeClr val="dk2"/>
              </a:solidFill>
            </a:endParaRPr>
          </a:p>
          <a:p>
            <a:pPr indent="-317500" lvl="0" marL="457200" rtl="0" algn="l">
              <a:lnSpc>
                <a:spcPct val="150000"/>
              </a:lnSpc>
              <a:spcBef>
                <a:spcPts val="0"/>
              </a:spcBef>
              <a:spcAft>
                <a:spcPts val="0"/>
              </a:spcAft>
              <a:buClr>
                <a:schemeClr val="dk2"/>
              </a:buClr>
              <a:buSzPts val="1400"/>
              <a:buChar char="●"/>
            </a:pPr>
            <a:r>
              <a:rPr b="1" lang="en" sz="1400">
                <a:solidFill>
                  <a:schemeClr val="dk2"/>
                </a:solidFill>
              </a:rPr>
              <a:t>People in charge of maintaining the shared database </a:t>
            </a:r>
            <a:endParaRPr b="1" sz="1400">
              <a:solidFill>
                <a:schemeClr val="dk2"/>
              </a:solidFill>
            </a:endParaRPr>
          </a:p>
          <a:p>
            <a:pPr indent="-304800" lvl="1" marL="914400" rtl="0" algn="l">
              <a:lnSpc>
                <a:spcPct val="150000"/>
              </a:lnSpc>
              <a:spcBef>
                <a:spcPts val="0"/>
              </a:spcBef>
              <a:spcAft>
                <a:spcPts val="0"/>
              </a:spcAft>
              <a:buClr>
                <a:schemeClr val="dk2"/>
              </a:buClr>
              <a:buSzPts val="1200"/>
              <a:buChar char="○"/>
            </a:pPr>
            <a:r>
              <a:rPr lang="en" sz="1200">
                <a:solidFill>
                  <a:schemeClr val="dk2"/>
                </a:solidFill>
              </a:rPr>
              <a:t>People hired by BLK City Collective to maintain and update the shared database between </a:t>
            </a:r>
            <a:r>
              <a:rPr lang="en" sz="1200">
                <a:solidFill>
                  <a:schemeClr val="dk2"/>
                </a:solidFill>
              </a:rPr>
              <a:t>website</a:t>
            </a:r>
            <a:r>
              <a:rPr lang="en" sz="1200">
                <a:solidFill>
                  <a:schemeClr val="dk2"/>
                </a:solidFill>
              </a:rPr>
              <a:t> and app</a:t>
            </a:r>
            <a:endParaRPr sz="1200">
              <a:solidFill>
                <a:schemeClr val="dk2"/>
              </a:solidFill>
            </a:endParaRPr>
          </a:p>
          <a:p>
            <a:pPr indent="-317500" lvl="0" marL="457200" rtl="0" algn="l">
              <a:lnSpc>
                <a:spcPct val="150000"/>
              </a:lnSpc>
              <a:spcBef>
                <a:spcPts val="0"/>
              </a:spcBef>
              <a:spcAft>
                <a:spcPts val="0"/>
              </a:spcAft>
              <a:buClr>
                <a:schemeClr val="dk2"/>
              </a:buClr>
              <a:buSzPts val="1400"/>
              <a:buChar char="●"/>
            </a:pPr>
            <a:r>
              <a:rPr b="1" lang="en" sz="1400">
                <a:solidFill>
                  <a:schemeClr val="dk2"/>
                </a:solidFill>
              </a:rPr>
              <a:t>Us as Software Developers</a:t>
            </a:r>
            <a:endParaRPr b="1" sz="1400">
              <a:solidFill>
                <a:schemeClr val="dk2"/>
              </a:solidFill>
            </a:endParaRPr>
          </a:p>
          <a:p>
            <a:pPr indent="-304800" lvl="1" marL="914400" rtl="0" algn="l">
              <a:lnSpc>
                <a:spcPct val="150000"/>
              </a:lnSpc>
              <a:spcBef>
                <a:spcPts val="0"/>
              </a:spcBef>
              <a:spcAft>
                <a:spcPts val="0"/>
              </a:spcAft>
              <a:buClr>
                <a:schemeClr val="dk2"/>
              </a:buClr>
              <a:buSzPts val="1200"/>
              <a:buChar char="○"/>
            </a:pPr>
            <a:r>
              <a:rPr lang="en" sz="1200">
                <a:solidFill>
                  <a:schemeClr val="dk2"/>
                </a:solidFill>
              </a:rPr>
              <a:t>Work with the MKE Black Executives, and designing the BLK City Collective App</a:t>
            </a:r>
            <a:endParaRPr sz="1200">
              <a:solidFill>
                <a:schemeClr val="dk2"/>
              </a:solidFill>
            </a:endParaRPr>
          </a:p>
          <a:p>
            <a:pPr indent="0" lvl="0" marL="0" rtl="0" algn="l">
              <a:lnSpc>
                <a:spcPct val="150000"/>
              </a:lnSpc>
              <a:spcBef>
                <a:spcPts val="0"/>
              </a:spcBef>
              <a:spcAft>
                <a:spcPts val="1200"/>
              </a:spcAft>
              <a:buNone/>
            </a:pPr>
            <a:r>
              <a:t/>
            </a:r>
            <a:endParaRPr sz="16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2164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KPI’s Part 1</a:t>
            </a:r>
            <a:endParaRPr/>
          </a:p>
        </p:txBody>
      </p:sp>
      <p:sp>
        <p:nvSpPr>
          <p:cNvPr id="91" name="Google Shape;91;p18"/>
          <p:cNvSpPr txBox="1"/>
          <p:nvPr>
            <p:ph idx="1" type="body"/>
          </p:nvPr>
        </p:nvSpPr>
        <p:spPr>
          <a:xfrm>
            <a:off x="317400" y="839825"/>
            <a:ext cx="8743500" cy="4059300"/>
          </a:xfrm>
          <a:prstGeom prst="rect">
            <a:avLst/>
          </a:prstGeom>
        </p:spPr>
        <p:txBody>
          <a:bodyPr anchorCtr="0" anchor="t" bIns="91425" lIns="91425" spcFirstLastPara="1" rIns="91425" wrap="square" tIns="91425">
            <a:noAutofit/>
          </a:bodyPr>
          <a:lstStyle/>
          <a:p>
            <a:pPr indent="0" lvl="0" marL="0" rtl="0" algn="l">
              <a:lnSpc>
                <a:spcPct val="150000"/>
              </a:lnSpc>
              <a:spcBef>
                <a:spcPts val="1200"/>
              </a:spcBef>
              <a:spcAft>
                <a:spcPts val="0"/>
              </a:spcAft>
              <a:buNone/>
            </a:pPr>
            <a:r>
              <a:rPr b="1" lang="en" sz="1300">
                <a:solidFill>
                  <a:schemeClr val="dk2"/>
                </a:solidFill>
              </a:rPr>
              <a:t>BLK City Collective - The Businesses Featured and Young Adult Users </a:t>
            </a:r>
            <a:endParaRPr sz="1300">
              <a:solidFill>
                <a:schemeClr val="dk2"/>
              </a:solidFill>
            </a:endParaRPr>
          </a:p>
          <a:p>
            <a:pPr indent="-311150" lvl="0" marL="457200" rtl="0" algn="l">
              <a:lnSpc>
                <a:spcPct val="150000"/>
              </a:lnSpc>
              <a:spcBef>
                <a:spcPts val="1200"/>
              </a:spcBef>
              <a:spcAft>
                <a:spcPts val="0"/>
              </a:spcAft>
              <a:buClr>
                <a:schemeClr val="dk2"/>
              </a:buClr>
              <a:buSzPts val="1300"/>
              <a:buChar char="●"/>
            </a:pPr>
            <a:r>
              <a:rPr b="1" lang="en" sz="1300">
                <a:solidFill>
                  <a:schemeClr val="dk2"/>
                </a:solidFill>
              </a:rPr>
              <a:t>Acceptance Criteria (Website)</a:t>
            </a:r>
            <a:r>
              <a:rPr lang="en" sz="1300">
                <a:solidFill>
                  <a:schemeClr val="dk2"/>
                </a:solidFill>
              </a:rPr>
              <a:t>:</a:t>
            </a:r>
            <a:endParaRPr sz="1300">
              <a:solidFill>
                <a:schemeClr val="dk2"/>
              </a:solidFill>
            </a:endParaRPr>
          </a:p>
          <a:p>
            <a:pPr indent="-311150" lvl="1" marL="914400" rtl="0" algn="l">
              <a:lnSpc>
                <a:spcPct val="150000"/>
              </a:lnSpc>
              <a:spcBef>
                <a:spcPts val="0"/>
              </a:spcBef>
              <a:spcAft>
                <a:spcPts val="0"/>
              </a:spcAft>
              <a:buClr>
                <a:schemeClr val="dk2"/>
              </a:buClr>
              <a:buSzPts val="1300"/>
              <a:buChar char="○"/>
            </a:pPr>
            <a:r>
              <a:rPr lang="en" sz="1300">
                <a:solidFill>
                  <a:schemeClr val="dk2"/>
                </a:solidFill>
              </a:rPr>
              <a:t>The website should be able to populate with different businesses (along with their accurate information), and allow interaction between a consumer and a business</a:t>
            </a:r>
            <a:endParaRPr sz="1300">
              <a:solidFill>
                <a:schemeClr val="dk2"/>
              </a:solidFill>
            </a:endParaRPr>
          </a:p>
          <a:p>
            <a:pPr indent="-311150" lvl="1" marL="914400" rtl="0" algn="l">
              <a:lnSpc>
                <a:spcPct val="150000"/>
              </a:lnSpc>
              <a:spcBef>
                <a:spcPts val="0"/>
              </a:spcBef>
              <a:spcAft>
                <a:spcPts val="0"/>
              </a:spcAft>
              <a:buClr>
                <a:schemeClr val="dk2"/>
              </a:buClr>
              <a:buSzPts val="1300"/>
              <a:buChar char="○"/>
            </a:pPr>
            <a:r>
              <a:rPr lang="en" sz="1300">
                <a:solidFill>
                  <a:schemeClr val="dk2"/>
                </a:solidFill>
              </a:rPr>
              <a:t>User friendly and accessible so that users can discover local community events and businesses</a:t>
            </a:r>
            <a:endParaRPr sz="1300">
              <a:solidFill>
                <a:schemeClr val="dk2"/>
              </a:solidFill>
            </a:endParaRPr>
          </a:p>
          <a:p>
            <a:pPr indent="-311150" lvl="1" marL="914400" rtl="0" algn="l">
              <a:lnSpc>
                <a:spcPct val="150000"/>
              </a:lnSpc>
              <a:spcBef>
                <a:spcPts val="0"/>
              </a:spcBef>
              <a:spcAft>
                <a:spcPts val="0"/>
              </a:spcAft>
              <a:buClr>
                <a:schemeClr val="dk2"/>
              </a:buClr>
              <a:buSzPts val="1300"/>
              <a:buChar char="○"/>
            </a:pPr>
            <a:r>
              <a:rPr lang="en" sz="1300">
                <a:solidFill>
                  <a:schemeClr val="dk2"/>
                </a:solidFill>
              </a:rPr>
              <a:t>Contain a login page, one for users and one for businesses, so that businesses can interact with customers who favorite their business (and see if their business information is accurate), and customers can interact with businesses as well</a:t>
            </a:r>
            <a:endParaRPr sz="1300">
              <a:solidFill>
                <a:schemeClr val="dk2"/>
              </a:solidFill>
            </a:endParaRPr>
          </a:p>
          <a:p>
            <a:pPr indent="-311150" lvl="0" marL="457200" rtl="0" algn="l">
              <a:lnSpc>
                <a:spcPct val="150000"/>
              </a:lnSpc>
              <a:spcBef>
                <a:spcPts val="0"/>
              </a:spcBef>
              <a:spcAft>
                <a:spcPts val="0"/>
              </a:spcAft>
              <a:buClr>
                <a:schemeClr val="dk2"/>
              </a:buClr>
              <a:buSzPts val="1300"/>
              <a:buChar char="●"/>
            </a:pPr>
            <a:r>
              <a:rPr b="1" lang="en" sz="1300">
                <a:solidFill>
                  <a:schemeClr val="dk2"/>
                </a:solidFill>
              </a:rPr>
              <a:t>Database: </a:t>
            </a:r>
            <a:r>
              <a:rPr lang="en" sz="1300">
                <a:solidFill>
                  <a:schemeClr val="dk2"/>
                </a:solidFill>
              </a:rPr>
              <a:t>Should be shared between the mobile application and the website. It should be kept up to date with the businesses (not including those that don’t exist) and secure. </a:t>
            </a:r>
            <a:endParaRPr sz="1300">
              <a:solidFill>
                <a:schemeClr val="dk2"/>
              </a:solidFill>
            </a:endParaRPr>
          </a:p>
          <a:p>
            <a:pPr indent="-311150" lvl="0" marL="457200" rtl="0" algn="l">
              <a:lnSpc>
                <a:spcPct val="150000"/>
              </a:lnSpc>
              <a:spcBef>
                <a:spcPts val="0"/>
              </a:spcBef>
              <a:spcAft>
                <a:spcPts val="0"/>
              </a:spcAft>
              <a:buClr>
                <a:schemeClr val="dk2"/>
              </a:buClr>
              <a:buSzPts val="1300"/>
              <a:buChar char="●"/>
            </a:pPr>
            <a:r>
              <a:rPr b="1" lang="en" sz="1300">
                <a:solidFill>
                  <a:schemeClr val="dk2"/>
                </a:solidFill>
              </a:rPr>
              <a:t>Documentation: </a:t>
            </a:r>
            <a:r>
              <a:rPr lang="en" sz="1300">
                <a:solidFill>
                  <a:schemeClr val="dk2"/>
                </a:solidFill>
              </a:rPr>
              <a:t>Documentation on how to use the website and database will be provided. Database must be secure and accurate </a:t>
            </a:r>
            <a:endParaRPr b="1" sz="1300">
              <a:solidFill>
                <a:schemeClr val="dk2"/>
              </a:solidFill>
            </a:endParaRPr>
          </a:p>
          <a:p>
            <a:pPr indent="-311150" lvl="0" marL="457200" rtl="0" algn="l">
              <a:lnSpc>
                <a:spcPct val="150000"/>
              </a:lnSpc>
              <a:spcBef>
                <a:spcPts val="0"/>
              </a:spcBef>
              <a:spcAft>
                <a:spcPts val="0"/>
              </a:spcAft>
              <a:buClr>
                <a:schemeClr val="dk2"/>
              </a:buClr>
              <a:buSzPts val="1300"/>
              <a:buChar char="●"/>
            </a:pPr>
            <a:r>
              <a:rPr b="1" lang="en" sz="1300">
                <a:solidFill>
                  <a:schemeClr val="dk2"/>
                </a:solidFill>
              </a:rPr>
              <a:t>Code: </a:t>
            </a:r>
            <a:r>
              <a:rPr lang="en" sz="1300">
                <a:solidFill>
                  <a:schemeClr val="dk2"/>
                </a:solidFill>
              </a:rPr>
              <a:t>Source code will also be provided for this website and database as well. </a:t>
            </a:r>
            <a:endParaRPr b="1" sz="1300">
              <a:solidFill>
                <a:schemeClr val="dk2"/>
              </a:solidFill>
            </a:endParaRPr>
          </a:p>
        </p:txBody>
      </p:sp>
      <p:pic>
        <p:nvPicPr>
          <p:cNvPr id="92" name="Google Shape;92;p18"/>
          <p:cNvPicPr preferRelativeResize="0"/>
          <p:nvPr/>
        </p:nvPicPr>
        <p:blipFill>
          <a:blip r:embed="rId3">
            <a:alphaModFix/>
          </a:blip>
          <a:stretch>
            <a:fillRect/>
          </a:stretch>
        </p:blipFill>
        <p:spPr>
          <a:xfrm>
            <a:off x="7487526" y="1"/>
            <a:ext cx="1656475" cy="16564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KPI’s Part 2</a:t>
            </a:r>
            <a:endParaRPr/>
          </a:p>
        </p:txBody>
      </p:sp>
      <p:sp>
        <p:nvSpPr>
          <p:cNvPr id="98" name="Google Shape;98;p19"/>
          <p:cNvSpPr txBox="1"/>
          <p:nvPr>
            <p:ph idx="1" type="body"/>
          </p:nvPr>
        </p:nvSpPr>
        <p:spPr>
          <a:xfrm>
            <a:off x="83100" y="771475"/>
            <a:ext cx="7404300" cy="3780000"/>
          </a:xfrm>
          <a:prstGeom prst="rect">
            <a:avLst/>
          </a:prstGeom>
        </p:spPr>
        <p:txBody>
          <a:bodyPr anchorCtr="0" anchor="t" bIns="91425" lIns="91425" spcFirstLastPara="1" rIns="91425" wrap="square" tIns="91425">
            <a:normAutofit fontScale="25000" lnSpcReduction="20000"/>
          </a:bodyPr>
          <a:lstStyle/>
          <a:p>
            <a:pPr indent="0" lvl="0" marL="0" rtl="0" algn="l">
              <a:lnSpc>
                <a:spcPct val="150000"/>
              </a:lnSpc>
              <a:spcBef>
                <a:spcPts val="1200"/>
              </a:spcBef>
              <a:spcAft>
                <a:spcPts val="0"/>
              </a:spcAft>
              <a:buNone/>
            </a:pPr>
            <a:r>
              <a:rPr b="1" lang="en" sz="5200">
                <a:solidFill>
                  <a:schemeClr val="dk2"/>
                </a:solidFill>
              </a:rPr>
              <a:t>MKE Black Company Executives</a:t>
            </a:r>
            <a:endParaRPr b="1" sz="5200">
              <a:solidFill>
                <a:schemeClr val="dk2"/>
              </a:solidFill>
            </a:endParaRPr>
          </a:p>
          <a:p>
            <a:pPr indent="-311150" lvl="0" marL="457200" rtl="0" algn="l">
              <a:lnSpc>
                <a:spcPct val="150000"/>
              </a:lnSpc>
              <a:spcBef>
                <a:spcPts val="1200"/>
              </a:spcBef>
              <a:spcAft>
                <a:spcPts val="0"/>
              </a:spcAft>
              <a:buClr>
                <a:schemeClr val="dk2"/>
              </a:buClr>
              <a:buSzPct val="100000"/>
              <a:buChar char="●"/>
            </a:pPr>
            <a:r>
              <a:rPr b="1" lang="en" sz="5200">
                <a:solidFill>
                  <a:schemeClr val="dk2"/>
                </a:solidFill>
              </a:rPr>
              <a:t>Acceptance Criteria (Website):</a:t>
            </a:r>
            <a:endParaRPr b="1" sz="5200">
              <a:solidFill>
                <a:schemeClr val="dk2"/>
              </a:solidFill>
            </a:endParaRPr>
          </a:p>
          <a:p>
            <a:pPr indent="-311150" lvl="1" marL="914400" rtl="0" algn="l">
              <a:lnSpc>
                <a:spcPct val="150000"/>
              </a:lnSpc>
              <a:spcBef>
                <a:spcPts val="0"/>
              </a:spcBef>
              <a:spcAft>
                <a:spcPts val="0"/>
              </a:spcAft>
              <a:buClr>
                <a:schemeClr val="dk2"/>
              </a:buClr>
              <a:buSzPct val="100000"/>
              <a:buChar char="○"/>
            </a:pPr>
            <a:r>
              <a:rPr lang="en" sz="5200">
                <a:solidFill>
                  <a:schemeClr val="dk2"/>
                </a:solidFill>
              </a:rPr>
              <a:t>The BLK City Collectie website to contain all of the features of the current MKE Black Website like a list of all the businesses and type of business, location services of all the businesses, and a way for businesses to submit their information for review. </a:t>
            </a:r>
            <a:endParaRPr sz="5200">
              <a:solidFill>
                <a:schemeClr val="dk2"/>
              </a:solidFill>
            </a:endParaRPr>
          </a:p>
          <a:p>
            <a:pPr indent="-311150" lvl="0" marL="457200" rtl="0" algn="l">
              <a:lnSpc>
                <a:spcPct val="150000"/>
              </a:lnSpc>
              <a:spcBef>
                <a:spcPts val="0"/>
              </a:spcBef>
              <a:spcAft>
                <a:spcPts val="0"/>
              </a:spcAft>
              <a:buClr>
                <a:schemeClr val="dk2"/>
              </a:buClr>
              <a:buSzPct val="100000"/>
              <a:buChar char="●"/>
            </a:pPr>
            <a:r>
              <a:rPr b="1" lang="en" sz="5200">
                <a:solidFill>
                  <a:schemeClr val="dk2"/>
                </a:solidFill>
              </a:rPr>
              <a:t>Database: </a:t>
            </a:r>
            <a:endParaRPr b="1" sz="5200">
              <a:solidFill>
                <a:schemeClr val="dk2"/>
              </a:solidFill>
            </a:endParaRPr>
          </a:p>
          <a:p>
            <a:pPr indent="-311150" lvl="1" marL="914400" rtl="0" algn="l">
              <a:lnSpc>
                <a:spcPct val="150000"/>
              </a:lnSpc>
              <a:spcBef>
                <a:spcPts val="0"/>
              </a:spcBef>
              <a:spcAft>
                <a:spcPts val="0"/>
              </a:spcAft>
              <a:buClr>
                <a:schemeClr val="dk2"/>
              </a:buClr>
              <a:buSzPct val="100000"/>
              <a:buChar char="○"/>
            </a:pPr>
            <a:r>
              <a:rPr lang="en" sz="5200">
                <a:solidFill>
                  <a:schemeClr val="dk2"/>
                </a:solidFill>
              </a:rPr>
              <a:t>Shared between mobile application and website</a:t>
            </a:r>
            <a:endParaRPr sz="5200">
              <a:solidFill>
                <a:schemeClr val="dk2"/>
              </a:solidFill>
            </a:endParaRPr>
          </a:p>
          <a:p>
            <a:pPr indent="-311150" lvl="0" marL="457200" rtl="0" algn="l">
              <a:lnSpc>
                <a:spcPct val="150000"/>
              </a:lnSpc>
              <a:spcBef>
                <a:spcPts val="0"/>
              </a:spcBef>
              <a:spcAft>
                <a:spcPts val="0"/>
              </a:spcAft>
              <a:buClr>
                <a:schemeClr val="dk2"/>
              </a:buClr>
              <a:buSzPct val="100000"/>
              <a:buChar char="●"/>
            </a:pPr>
            <a:r>
              <a:rPr b="1" lang="en" sz="5200">
                <a:solidFill>
                  <a:schemeClr val="dk2"/>
                </a:solidFill>
              </a:rPr>
              <a:t>Documentation and Code:</a:t>
            </a:r>
            <a:endParaRPr b="1" sz="5200">
              <a:solidFill>
                <a:schemeClr val="dk2"/>
              </a:solidFill>
            </a:endParaRPr>
          </a:p>
          <a:p>
            <a:pPr indent="-311150" lvl="1" marL="914400" rtl="0" algn="l">
              <a:lnSpc>
                <a:spcPct val="150000"/>
              </a:lnSpc>
              <a:spcBef>
                <a:spcPts val="0"/>
              </a:spcBef>
              <a:spcAft>
                <a:spcPts val="0"/>
              </a:spcAft>
              <a:buClr>
                <a:schemeClr val="dk2"/>
              </a:buClr>
              <a:buSzPct val="100000"/>
              <a:buChar char="○"/>
            </a:pPr>
            <a:r>
              <a:rPr lang="en" sz="5200">
                <a:solidFill>
                  <a:schemeClr val="dk2"/>
                </a:solidFill>
              </a:rPr>
              <a:t>Documents and Source Code will be provided on how to use the website and database</a:t>
            </a:r>
            <a:endParaRPr sz="5200">
              <a:solidFill>
                <a:schemeClr val="dk2"/>
              </a:solidFill>
            </a:endParaRPr>
          </a:p>
          <a:p>
            <a:pPr indent="0" lvl="0" marL="0" rtl="0" algn="l">
              <a:lnSpc>
                <a:spcPct val="150000"/>
              </a:lnSpc>
              <a:spcBef>
                <a:spcPts val="1200"/>
              </a:spcBef>
              <a:spcAft>
                <a:spcPts val="0"/>
              </a:spcAft>
              <a:buNone/>
            </a:pPr>
            <a:r>
              <a:rPr b="1" lang="en" sz="5200">
                <a:solidFill>
                  <a:schemeClr val="dk2"/>
                </a:solidFill>
              </a:rPr>
              <a:t>People in charge of maintaining the shared database</a:t>
            </a:r>
            <a:endParaRPr b="1" sz="5200">
              <a:solidFill>
                <a:schemeClr val="dk2"/>
              </a:solidFill>
            </a:endParaRPr>
          </a:p>
          <a:p>
            <a:pPr indent="-311150" lvl="0" marL="457200" rtl="0" algn="l">
              <a:lnSpc>
                <a:spcPct val="150000"/>
              </a:lnSpc>
              <a:spcBef>
                <a:spcPts val="1200"/>
              </a:spcBef>
              <a:spcAft>
                <a:spcPts val="0"/>
              </a:spcAft>
              <a:buClr>
                <a:schemeClr val="dk2"/>
              </a:buClr>
              <a:buSzPct val="100000"/>
              <a:buChar char="●"/>
            </a:pPr>
            <a:r>
              <a:rPr b="1" lang="en" sz="5200">
                <a:solidFill>
                  <a:schemeClr val="dk2"/>
                </a:solidFill>
              </a:rPr>
              <a:t>Database:</a:t>
            </a:r>
            <a:endParaRPr b="1" sz="5200">
              <a:solidFill>
                <a:schemeClr val="dk2"/>
              </a:solidFill>
            </a:endParaRPr>
          </a:p>
          <a:p>
            <a:pPr indent="-311150" lvl="1" marL="914400" rtl="0" algn="l">
              <a:lnSpc>
                <a:spcPct val="150000"/>
              </a:lnSpc>
              <a:spcBef>
                <a:spcPts val="0"/>
              </a:spcBef>
              <a:spcAft>
                <a:spcPts val="0"/>
              </a:spcAft>
              <a:buClr>
                <a:schemeClr val="dk2"/>
              </a:buClr>
              <a:buSzPct val="100000"/>
              <a:buChar char="○"/>
            </a:pPr>
            <a:r>
              <a:rPr lang="en" sz="5200">
                <a:solidFill>
                  <a:schemeClr val="dk2"/>
                </a:solidFill>
              </a:rPr>
              <a:t>The database should be shared between the mobile application and the website and be easy to access. It should be able to be maintained, and updated easily.  </a:t>
            </a:r>
            <a:endParaRPr sz="5200">
              <a:solidFill>
                <a:schemeClr val="dk2"/>
              </a:solidFill>
            </a:endParaRPr>
          </a:p>
          <a:p>
            <a:pPr indent="-311150" lvl="0" marL="457200" rtl="0" algn="l">
              <a:lnSpc>
                <a:spcPct val="150000"/>
              </a:lnSpc>
              <a:spcBef>
                <a:spcPts val="0"/>
              </a:spcBef>
              <a:spcAft>
                <a:spcPts val="0"/>
              </a:spcAft>
              <a:buClr>
                <a:schemeClr val="dk2"/>
              </a:buClr>
              <a:buSzPct val="100000"/>
              <a:buChar char="●"/>
            </a:pPr>
            <a:r>
              <a:rPr b="1" lang="en" sz="5200">
                <a:solidFill>
                  <a:schemeClr val="dk2"/>
                </a:solidFill>
              </a:rPr>
              <a:t>Documentation and Code:</a:t>
            </a:r>
            <a:endParaRPr b="1" sz="5200">
              <a:solidFill>
                <a:schemeClr val="dk2"/>
              </a:solidFill>
            </a:endParaRPr>
          </a:p>
          <a:p>
            <a:pPr indent="-311150" lvl="1" marL="914400" rtl="0" algn="l">
              <a:lnSpc>
                <a:spcPct val="150000"/>
              </a:lnSpc>
              <a:spcBef>
                <a:spcPts val="0"/>
              </a:spcBef>
              <a:spcAft>
                <a:spcPts val="0"/>
              </a:spcAft>
              <a:buClr>
                <a:schemeClr val="dk2"/>
              </a:buClr>
              <a:buSzPct val="100000"/>
              <a:buChar char="○"/>
            </a:pPr>
            <a:r>
              <a:rPr lang="en" sz="5200">
                <a:solidFill>
                  <a:schemeClr val="dk2"/>
                </a:solidFill>
              </a:rPr>
              <a:t>Same as above</a:t>
            </a:r>
            <a:endParaRPr sz="5200">
              <a:solidFill>
                <a:schemeClr val="dk2"/>
              </a:solidFill>
            </a:endParaRPr>
          </a:p>
          <a:p>
            <a:pPr indent="0" lvl="0" marL="0" rtl="0" algn="l">
              <a:spcBef>
                <a:spcPts val="1200"/>
              </a:spcBef>
              <a:spcAft>
                <a:spcPts val="1200"/>
              </a:spcAft>
              <a:buNone/>
            </a:pPr>
            <a:r>
              <a:t/>
            </a:r>
            <a:endParaRPr/>
          </a:p>
        </p:txBody>
      </p:sp>
      <p:pic>
        <p:nvPicPr>
          <p:cNvPr id="99" name="Google Shape;99;p19"/>
          <p:cNvPicPr preferRelativeResize="0"/>
          <p:nvPr/>
        </p:nvPicPr>
        <p:blipFill>
          <a:blip r:embed="rId3">
            <a:alphaModFix/>
          </a:blip>
          <a:stretch>
            <a:fillRect/>
          </a:stretch>
        </p:blipFill>
        <p:spPr>
          <a:xfrm>
            <a:off x="7487526" y="1"/>
            <a:ext cx="1656475" cy="16564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Market Survey Data</a:t>
            </a:r>
            <a:endParaRPr/>
          </a:p>
        </p:txBody>
      </p:sp>
      <p:sp>
        <p:nvSpPr>
          <p:cNvPr id="105" name="Google Shape;105;p20"/>
          <p:cNvSpPr txBox="1"/>
          <p:nvPr>
            <p:ph idx="1" type="body"/>
          </p:nvPr>
        </p:nvSpPr>
        <p:spPr>
          <a:xfrm>
            <a:off x="311700" y="1152475"/>
            <a:ext cx="8520600" cy="3708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00000"/>
              </a:buClr>
              <a:buSzPts val="1800"/>
              <a:buChar char="●"/>
            </a:pPr>
            <a:r>
              <a:rPr lang="en">
                <a:solidFill>
                  <a:srgbClr val="000000"/>
                </a:solidFill>
              </a:rPr>
              <a:t>Deploy the website/application in major cities </a:t>
            </a:r>
            <a:r>
              <a:rPr lang="en">
                <a:solidFill>
                  <a:srgbClr val="000000"/>
                </a:solidFill>
              </a:rPr>
              <a:t>across</a:t>
            </a:r>
            <a:r>
              <a:rPr lang="en">
                <a:solidFill>
                  <a:srgbClr val="000000"/>
                </a:solidFill>
              </a:rPr>
              <a:t> the U.S</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Growth Estimates</a:t>
            </a:r>
            <a:endParaRPr>
              <a:solidFill>
                <a:srgbClr val="000000"/>
              </a:solidFill>
            </a:endParaRPr>
          </a:p>
          <a:p>
            <a:pPr indent="-317500" lvl="1" marL="914400" rtl="0" algn="l">
              <a:spcBef>
                <a:spcPts val="0"/>
              </a:spcBef>
              <a:spcAft>
                <a:spcPts val="0"/>
              </a:spcAft>
              <a:buClr>
                <a:srgbClr val="000000"/>
              </a:buClr>
              <a:buSzPts val="1400"/>
              <a:buChar char="○"/>
            </a:pPr>
            <a:r>
              <a:rPr lang="en">
                <a:solidFill>
                  <a:srgbClr val="000000"/>
                </a:solidFill>
              </a:rPr>
              <a:t>10,000 users within each </a:t>
            </a:r>
            <a:r>
              <a:rPr lang="en">
                <a:solidFill>
                  <a:srgbClr val="000000"/>
                </a:solidFill>
              </a:rPr>
              <a:t>city, with the expectation to spread the product to 20 different cities</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Competitors:</a:t>
            </a:r>
            <a:endParaRPr>
              <a:solidFill>
                <a:srgbClr val="000000"/>
              </a:solidFill>
            </a:endParaRPr>
          </a:p>
          <a:p>
            <a:pPr indent="-317500" lvl="1" marL="914400" rtl="0" algn="l">
              <a:spcBef>
                <a:spcPts val="0"/>
              </a:spcBef>
              <a:spcAft>
                <a:spcPts val="0"/>
              </a:spcAft>
              <a:buClr>
                <a:srgbClr val="000000"/>
              </a:buClr>
              <a:buSzPts val="1400"/>
              <a:buChar char="○"/>
            </a:pPr>
            <a:r>
              <a:rPr lang="en">
                <a:solidFill>
                  <a:srgbClr val="000000"/>
                </a:solidFill>
              </a:rPr>
              <a:t>Blaap() </a:t>
            </a:r>
            <a:endParaRPr>
              <a:solidFill>
                <a:srgbClr val="000000"/>
              </a:solidFill>
            </a:endParaRPr>
          </a:p>
          <a:p>
            <a:pPr indent="-317500" lvl="1" marL="914400" rtl="0" algn="l">
              <a:spcBef>
                <a:spcPts val="0"/>
              </a:spcBef>
              <a:spcAft>
                <a:spcPts val="0"/>
              </a:spcAft>
              <a:buClr>
                <a:srgbClr val="000000"/>
              </a:buClr>
              <a:buSzPts val="1400"/>
              <a:buChar char="○"/>
            </a:pPr>
            <a:r>
              <a:rPr lang="en">
                <a:solidFill>
                  <a:srgbClr val="000000"/>
                </a:solidFill>
              </a:rPr>
              <a:t>We Buy Black</a:t>
            </a:r>
            <a:endParaRPr>
              <a:solidFill>
                <a:srgbClr val="000000"/>
              </a:solidFill>
            </a:endParaRPr>
          </a:p>
          <a:p>
            <a:pPr indent="-317500" lvl="1" marL="914400" rtl="0" algn="l">
              <a:spcBef>
                <a:spcPts val="0"/>
              </a:spcBef>
              <a:spcAft>
                <a:spcPts val="0"/>
              </a:spcAft>
              <a:buClr>
                <a:srgbClr val="000000"/>
              </a:buClr>
              <a:buSzPts val="1400"/>
              <a:buChar char="○"/>
            </a:pPr>
            <a:r>
              <a:rPr lang="en">
                <a:solidFill>
                  <a:srgbClr val="000000"/>
                </a:solidFill>
              </a:rPr>
              <a:t>MercadoMKE</a:t>
            </a:r>
            <a:endParaRPr>
              <a:solidFill>
                <a:srgbClr val="000000"/>
              </a:solidFill>
            </a:endParaRPr>
          </a:p>
          <a:p>
            <a:pPr indent="-317500" lvl="1" marL="914400" rtl="0" algn="l">
              <a:spcBef>
                <a:spcPts val="0"/>
              </a:spcBef>
              <a:spcAft>
                <a:spcPts val="0"/>
              </a:spcAft>
              <a:buClr>
                <a:srgbClr val="000000"/>
              </a:buClr>
              <a:buSzPts val="1400"/>
              <a:buChar char="○"/>
            </a:pPr>
            <a:r>
              <a:rPr lang="en">
                <a:solidFill>
                  <a:srgbClr val="000000"/>
                </a:solidFill>
              </a:rPr>
              <a:t>EatOrka</a:t>
            </a:r>
            <a:endParaRPr>
              <a:solidFill>
                <a:srgbClr val="000000"/>
              </a:solidFill>
            </a:endParaRPr>
          </a:p>
          <a:p>
            <a:pPr indent="-317500" lvl="1" marL="914400" rtl="0" algn="l">
              <a:spcBef>
                <a:spcPts val="0"/>
              </a:spcBef>
              <a:spcAft>
                <a:spcPts val="0"/>
              </a:spcAft>
              <a:buClr>
                <a:srgbClr val="000000"/>
              </a:buClr>
              <a:buSzPts val="1400"/>
              <a:buChar char="○"/>
            </a:pPr>
            <a:r>
              <a:rPr lang="en">
                <a:solidFill>
                  <a:srgbClr val="000000"/>
                </a:solidFill>
              </a:rPr>
              <a:t>Post 21 </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BLK City Collective’s main draw is the focus on local community to bring people together</a:t>
            </a:r>
            <a:endParaRPr>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Interoperability and Uptime requirements</a:t>
            </a:r>
            <a:endParaRPr/>
          </a:p>
        </p:txBody>
      </p:sp>
      <p:sp>
        <p:nvSpPr>
          <p:cNvPr id="111" name="Google Shape;111;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dk2"/>
              </a:buClr>
              <a:buSzPts val="1800"/>
              <a:buChar char="●"/>
            </a:pPr>
            <a:r>
              <a:rPr lang="en">
                <a:solidFill>
                  <a:schemeClr val="dk2"/>
                </a:solidFill>
              </a:rPr>
              <a:t>Database will contain information about various businesses and their location within said community.</a:t>
            </a:r>
            <a:endParaRPr>
              <a:solidFill>
                <a:schemeClr val="dk2"/>
              </a:solidFill>
            </a:endParaRPr>
          </a:p>
          <a:p>
            <a:pPr indent="-342900" lvl="1" marL="914400" rtl="0" algn="l">
              <a:lnSpc>
                <a:spcPct val="150000"/>
              </a:lnSpc>
              <a:spcBef>
                <a:spcPts val="0"/>
              </a:spcBef>
              <a:spcAft>
                <a:spcPts val="0"/>
              </a:spcAft>
              <a:buClr>
                <a:schemeClr val="dk2"/>
              </a:buClr>
              <a:buSzPts val="1800"/>
              <a:buChar char="○"/>
            </a:pPr>
            <a:r>
              <a:rPr lang="en" sz="1800">
                <a:solidFill>
                  <a:schemeClr val="dk2"/>
                </a:solidFill>
              </a:rPr>
              <a:t>Google Firebase will potentially used as database</a:t>
            </a:r>
            <a:endParaRPr sz="1800">
              <a:solidFill>
                <a:schemeClr val="dk2"/>
              </a:solidFill>
            </a:endParaRPr>
          </a:p>
          <a:p>
            <a:pPr indent="-342900" lvl="0" marL="457200" rtl="0" algn="l">
              <a:lnSpc>
                <a:spcPct val="150000"/>
              </a:lnSpc>
              <a:spcBef>
                <a:spcPts val="0"/>
              </a:spcBef>
              <a:spcAft>
                <a:spcPts val="0"/>
              </a:spcAft>
              <a:buClr>
                <a:schemeClr val="dk2"/>
              </a:buClr>
              <a:buSzPts val="1800"/>
              <a:buChar char="●"/>
            </a:pPr>
            <a:r>
              <a:rPr lang="en">
                <a:solidFill>
                  <a:schemeClr val="dk2"/>
                </a:solidFill>
              </a:rPr>
              <a:t>Website is not “Mission Critical”</a:t>
            </a:r>
            <a:endParaRPr>
              <a:solidFill>
                <a:schemeClr val="dk2"/>
              </a:solidFill>
            </a:endParaRPr>
          </a:p>
          <a:p>
            <a:pPr indent="-342900" lvl="1" marL="914400" rtl="0" algn="l">
              <a:lnSpc>
                <a:spcPct val="150000"/>
              </a:lnSpc>
              <a:spcBef>
                <a:spcPts val="0"/>
              </a:spcBef>
              <a:spcAft>
                <a:spcPts val="0"/>
              </a:spcAft>
              <a:buClr>
                <a:schemeClr val="dk2"/>
              </a:buClr>
              <a:buSzPts val="1800"/>
              <a:buChar char="○"/>
            </a:pPr>
            <a:r>
              <a:rPr lang="en" sz="1800">
                <a:solidFill>
                  <a:schemeClr val="dk2"/>
                </a:solidFill>
              </a:rPr>
              <a:t>The website will serve as a resource tool above all else</a:t>
            </a:r>
            <a:endParaRPr sz="1800">
              <a:solidFill>
                <a:schemeClr val="dk2"/>
              </a:solidFill>
            </a:endParaRPr>
          </a:p>
          <a:p>
            <a:pPr indent="-342900" lvl="0" marL="457200" rtl="0" algn="l">
              <a:lnSpc>
                <a:spcPct val="150000"/>
              </a:lnSpc>
              <a:spcBef>
                <a:spcPts val="0"/>
              </a:spcBef>
              <a:spcAft>
                <a:spcPts val="0"/>
              </a:spcAft>
              <a:buClr>
                <a:schemeClr val="dk2"/>
              </a:buClr>
              <a:buSzPts val="1800"/>
              <a:buChar char="●"/>
            </a:pPr>
            <a:r>
              <a:rPr lang="en">
                <a:solidFill>
                  <a:schemeClr val="dk2"/>
                </a:solidFill>
              </a:rPr>
              <a:t>Estimated uptime of 96%</a:t>
            </a:r>
            <a:endParaRPr>
              <a:solidFill>
                <a:schemeClr val="dk2"/>
              </a:solidFill>
            </a:endParaRPr>
          </a:p>
          <a:p>
            <a:pPr indent="-342900" lvl="1" marL="914400" rtl="0" algn="l">
              <a:lnSpc>
                <a:spcPct val="150000"/>
              </a:lnSpc>
              <a:spcBef>
                <a:spcPts val="0"/>
              </a:spcBef>
              <a:spcAft>
                <a:spcPts val="0"/>
              </a:spcAft>
              <a:buClr>
                <a:schemeClr val="dk2"/>
              </a:buClr>
              <a:buSzPts val="1800"/>
              <a:buChar char="○"/>
            </a:pPr>
            <a:r>
              <a:rPr lang="en" sz="1800">
                <a:solidFill>
                  <a:schemeClr val="dk2"/>
                </a:solidFill>
              </a:rPr>
              <a:t>There will be times where it will come down if some reworks or updates are needed</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311700" y="2317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Risks: Broad Market</a:t>
            </a:r>
            <a:endParaRPr/>
          </a:p>
        </p:txBody>
      </p:sp>
      <p:pic>
        <p:nvPicPr>
          <p:cNvPr id="117" name="Google Shape;117;p22"/>
          <p:cNvPicPr preferRelativeResize="0"/>
          <p:nvPr/>
        </p:nvPicPr>
        <p:blipFill>
          <a:blip r:embed="rId3">
            <a:alphaModFix/>
          </a:blip>
          <a:stretch>
            <a:fillRect/>
          </a:stretch>
        </p:blipFill>
        <p:spPr>
          <a:xfrm>
            <a:off x="1314298" y="970775"/>
            <a:ext cx="6223228" cy="37798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Product Risks</a:t>
            </a:r>
            <a:endParaRPr/>
          </a:p>
        </p:txBody>
      </p:sp>
      <p:sp>
        <p:nvSpPr>
          <p:cNvPr id="123" name="Google Shape;123;p23"/>
          <p:cNvSpPr txBox="1"/>
          <p:nvPr>
            <p:ph idx="1" type="body"/>
          </p:nvPr>
        </p:nvSpPr>
        <p:spPr>
          <a:xfrm>
            <a:off x="311700" y="1152475"/>
            <a:ext cx="5320500" cy="3416400"/>
          </a:xfrm>
          <a:prstGeom prst="rect">
            <a:avLst/>
          </a:prstGeom>
        </p:spPr>
        <p:txBody>
          <a:bodyPr anchorCtr="0" anchor="t" bIns="91425" lIns="91425" spcFirstLastPara="1" rIns="91425" wrap="square" tIns="91425">
            <a:normAutofit/>
          </a:bodyPr>
          <a:lstStyle/>
          <a:p>
            <a:pPr indent="-355600" lvl="0" marL="457200" rtl="0" algn="l">
              <a:lnSpc>
                <a:spcPct val="150000"/>
              </a:lnSpc>
              <a:spcBef>
                <a:spcPts val="0"/>
              </a:spcBef>
              <a:spcAft>
                <a:spcPts val="0"/>
              </a:spcAft>
              <a:buClr>
                <a:srgbClr val="000000"/>
              </a:buClr>
              <a:buSzPts val="2000"/>
              <a:buChar char="●"/>
            </a:pPr>
            <a:r>
              <a:rPr lang="en" sz="2000">
                <a:solidFill>
                  <a:srgbClr val="000000"/>
                </a:solidFill>
              </a:rPr>
              <a:t>Product risks include</a:t>
            </a:r>
            <a:endParaRPr sz="2000">
              <a:solidFill>
                <a:srgbClr val="000000"/>
              </a:solidFill>
            </a:endParaRPr>
          </a:p>
          <a:p>
            <a:pPr indent="-330200" lvl="1" marL="914400" rtl="0" algn="l">
              <a:lnSpc>
                <a:spcPct val="150000"/>
              </a:lnSpc>
              <a:spcBef>
                <a:spcPts val="0"/>
              </a:spcBef>
              <a:spcAft>
                <a:spcPts val="0"/>
              </a:spcAft>
              <a:buClr>
                <a:srgbClr val="000000"/>
              </a:buClr>
              <a:buSzPts val="1600"/>
              <a:buChar char="○"/>
            </a:pPr>
            <a:r>
              <a:rPr lang="en" sz="1600">
                <a:solidFill>
                  <a:srgbClr val="000000"/>
                </a:solidFill>
              </a:rPr>
              <a:t>Data security</a:t>
            </a:r>
            <a:endParaRPr sz="1600">
              <a:solidFill>
                <a:srgbClr val="000000"/>
              </a:solidFill>
            </a:endParaRPr>
          </a:p>
          <a:p>
            <a:pPr indent="-330200" lvl="1" marL="914400" rtl="0" algn="l">
              <a:lnSpc>
                <a:spcPct val="150000"/>
              </a:lnSpc>
              <a:spcBef>
                <a:spcPts val="0"/>
              </a:spcBef>
              <a:spcAft>
                <a:spcPts val="0"/>
              </a:spcAft>
              <a:buClr>
                <a:srgbClr val="000000"/>
              </a:buClr>
              <a:buSzPts val="1600"/>
              <a:buChar char="○"/>
            </a:pPr>
            <a:r>
              <a:rPr lang="en" sz="1600">
                <a:solidFill>
                  <a:srgbClr val="000000"/>
                </a:solidFill>
              </a:rPr>
              <a:t>Interconnectivity issues</a:t>
            </a:r>
            <a:endParaRPr sz="1600">
              <a:solidFill>
                <a:srgbClr val="000000"/>
              </a:solidFill>
            </a:endParaRPr>
          </a:p>
          <a:p>
            <a:pPr indent="-330200" lvl="1" marL="914400" rtl="0" algn="l">
              <a:lnSpc>
                <a:spcPct val="150000"/>
              </a:lnSpc>
              <a:spcBef>
                <a:spcPts val="0"/>
              </a:spcBef>
              <a:spcAft>
                <a:spcPts val="0"/>
              </a:spcAft>
              <a:buClr>
                <a:srgbClr val="000000"/>
              </a:buClr>
              <a:buSzPts val="1600"/>
              <a:buChar char="○"/>
            </a:pPr>
            <a:r>
              <a:rPr lang="en" sz="1600">
                <a:solidFill>
                  <a:srgbClr val="000000"/>
                </a:solidFill>
              </a:rPr>
              <a:t>Funding for database </a:t>
            </a:r>
            <a:r>
              <a:rPr lang="en" sz="1600">
                <a:solidFill>
                  <a:srgbClr val="000000"/>
                </a:solidFill>
              </a:rPr>
              <a:t>usage</a:t>
            </a:r>
            <a:endParaRPr sz="1600">
              <a:solidFill>
                <a:srgbClr val="000000"/>
              </a:solidFill>
            </a:endParaRPr>
          </a:p>
          <a:p>
            <a:pPr indent="-330200" lvl="1" marL="914400" rtl="0" algn="l">
              <a:lnSpc>
                <a:spcPct val="150000"/>
              </a:lnSpc>
              <a:spcBef>
                <a:spcPts val="0"/>
              </a:spcBef>
              <a:spcAft>
                <a:spcPts val="0"/>
              </a:spcAft>
              <a:buClr>
                <a:srgbClr val="000000"/>
              </a:buClr>
              <a:buSzPts val="1600"/>
              <a:buChar char="○"/>
            </a:pPr>
            <a:r>
              <a:rPr lang="en" sz="1600">
                <a:solidFill>
                  <a:srgbClr val="000000"/>
                </a:solidFill>
              </a:rPr>
              <a:t>And any big changes or decision made by BLK City collective</a:t>
            </a:r>
            <a:endParaRPr sz="1600">
              <a:solidFill>
                <a:srgbClr val="0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Advertisement</a:t>
            </a:r>
            <a:r>
              <a:rPr lang="en"/>
              <a:t>, Sales, and Feature structure</a:t>
            </a:r>
            <a:endParaRPr/>
          </a:p>
        </p:txBody>
      </p:sp>
      <p:sp>
        <p:nvSpPr>
          <p:cNvPr id="129" name="Google Shape;129;p24"/>
          <p:cNvSpPr txBox="1"/>
          <p:nvPr>
            <p:ph idx="1" type="body"/>
          </p:nvPr>
        </p:nvSpPr>
        <p:spPr>
          <a:xfrm>
            <a:off x="311700" y="12286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rgbClr val="000000"/>
              </a:buClr>
              <a:buSzPts val="1800"/>
              <a:buChar char="●"/>
            </a:pPr>
            <a:r>
              <a:rPr lang="en">
                <a:solidFill>
                  <a:srgbClr val="000000"/>
                </a:solidFill>
              </a:rPr>
              <a:t>Advertising</a:t>
            </a:r>
            <a:endParaRPr>
              <a:solidFill>
                <a:srgbClr val="000000"/>
              </a:solidFill>
            </a:endParaRPr>
          </a:p>
          <a:p>
            <a:pPr indent="-317500" lvl="1" marL="914400" rtl="0" algn="l">
              <a:spcBef>
                <a:spcPts val="0"/>
              </a:spcBef>
              <a:spcAft>
                <a:spcPts val="0"/>
              </a:spcAft>
              <a:buClr>
                <a:srgbClr val="000000"/>
              </a:buClr>
              <a:buSzPts val="1400"/>
              <a:buChar char="○"/>
            </a:pPr>
            <a:r>
              <a:rPr lang="en">
                <a:solidFill>
                  <a:srgbClr val="000000"/>
                </a:solidFill>
              </a:rPr>
              <a:t>Social media platforms</a:t>
            </a:r>
            <a:endParaRPr>
              <a:solidFill>
                <a:srgbClr val="000000"/>
              </a:solidFill>
            </a:endParaRPr>
          </a:p>
          <a:p>
            <a:pPr indent="-317500" lvl="1" marL="914400" rtl="0" algn="l">
              <a:spcBef>
                <a:spcPts val="0"/>
              </a:spcBef>
              <a:spcAft>
                <a:spcPts val="0"/>
              </a:spcAft>
              <a:buClr>
                <a:srgbClr val="000000"/>
              </a:buClr>
              <a:buSzPts val="1400"/>
              <a:buChar char="○"/>
            </a:pPr>
            <a:r>
              <a:rPr lang="en">
                <a:solidFill>
                  <a:srgbClr val="000000"/>
                </a:solidFill>
              </a:rPr>
              <a:t>Peer to peer communication with people in the communities</a:t>
            </a:r>
            <a:endParaRPr>
              <a:solidFill>
                <a:srgbClr val="000000"/>
              </a:solidFill>
            </a:endParaRPr>
          </a:p>
          <a:p>
            <a:pPr indent="-317500" lvl="1" marL="914400" rtl="0" algn="l">
              <a:spcBef>
                <a:spcPts val="0"/>
              </a:spcBef>
              <a:spcAft>
                <a:spcPts val="0"/>
              </a:spcAft>
              <a:buClr>
                <a:srgbClr val="000000"/>
              </a:buClr>
              <a:buSzPts val="1400"/>
              <a:buChar char="○"/>
            </a:pPr>
            <a:r>
              <a:rPr lang="en">
                <a:solidFill>
                  <a:srgbClr val="000000"/>
                </a:solidFill>
              </a:rPr>
              <a:t>Partnerships with local organizations</a:t>
            </a:r>
            <a:endParaRPr>
              <a:solidFill>
                <a:srgbClr val="000000"/>
              </a:solidFill>
            </a:endParaRPr>
          </a:p>
          <a:p>
            <a:pPr indent="-317500" lvl="1" marL="914400" rtl="0" algn="l">
              <a:spcBef>
                <a:spcPts val="0"/>
              </a:spcBef>
              <a:spcAft>
                <a:spcPts val="0"/>
              </a:spcAft>
              <a:buClr>
                <a:srgbClr val="000000"/>
              </a:buClr>
              <a:buSzPts val="1400"/>
              <a:buChar char="○"/>
            </a:pPr>
            <a:r>
              <a:rPr lang="en">
                <a:solidFill>
                  <a:srgbClr val="000000"/>
                </a:solidFill>
              </a:rPr>
              <a:t>Non-profit webinars</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Sales</a:t>
            </a:r>
            <a:endParaRPr>
              <a:solidFill>
                <a:srgbClr val="000000"/>
              </a:solidFill>
            </a:endParaRPr>
          </a:p>
          <a:p>
            <a:pPr indent="-317500" lvl="1" marL="914400" rtl="0" algn="l">
              <a:spcBef>
                <a:spcPts val="0"/>
              </a:spcBef>
              <a:spcAft>
                <a:spcPts val="0"/>
              </a:spcAft>
              <a:buClr>
                <a:srgbClr val="000000"/>
              </a:buClr>
              <a:buSzPts val="1400"/>
              <a:buChar char="○"/>
            </a:pPr>
            <a:r>
              <a:rPr lang="en">
                <a:solidFill>
                  <a:srgbClr val="000000"/>
                </a:solidFill>
              </a:rPr>
              <a:t>BLK City Collective plans to use business-to-business sales channels and a direct sales campaign</a:t>
            </a:r>
            <a:endParaRPr>
              <a:solidFill>
                <a:srgbClr val="000000"/>
              </a:solidFill>
            </a:endParaRPr>
          </a:p>
          <a:p>
            <a:pPr indent="-317500" lvl="1" marL="914400" rtl="0" algn="l">
              <a:spcBef>
                <a:spcPts val="0"/>
              </a:spcBef>
              <a:spcAft>
                <a:spcPts val="0"/>
              </a:spcAft>
              <a:buClr>
                <a:srgbClr val="000000"/>
              </a:buClr>
              <a:buSzPts val="1400"/>
              <a:buChar char="○"/>
            </a:pPr>
            <a:r>
              <a:rPr lang="en">
                <a:solidFill>
                  <a:srgbClr val="000000"/>
                </a:solidFill>
              </a:rPr>
              <a:t>The direct sales campaign includes cold calling and reaching out to other communities, organizations, and locations that would benefit from our product the most</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Feature Structure</a:t>
            </a:r>
            <a:endParaRPr>
              <a:solidFill>
                <a:srgbClr val="000000"/>
              </a:solidFill>
            </a:endParaRPr>
          </a:p>
          <a:p>
            <a:pPr indent="-330200" lvl="1" marL="914400" marR="407861" rtl="0" algn="l">
              <a:lnSpc>
                <a:spcPct val="115000"/>
              </a:lnSpc>
              <a:spcBef>
                <a:spcPts val="0"/>
              </a:spcBef>
              <a:spcAft>
                <a:spcPts val="0"/>
              </a:spcAft>
              <a:buClr>
                <a:srgbClr val="000000"/>
              </a:buClr>
              <a:buSzPts val="1600"/>
              <a:buChar char="○"/>
            </a:pPr>
            <a:r>
              <a:rPr lang="en">
                <a:solidFill>
                  <a:srgbClr val="000000"/>
                </a:solidFill>
              </a:rPr>
              <a:t>Standard and Advanced licensing connected to features to be unlocked within the applications API’s or services included.</a:t>
            </a:r>
            <a:endParaRPr>
              <a:solidFill>
                <a:srgbClr val="000000"/>
              </a:solidFill>
            </a:endParaRPr>
          </a:p>
          <a:p>
            <a:pPr indent="-330200" lvl="1" marL="914400" marR="407861" rtl="0" algn="l">
              <a:lnSpc>
                <a:spcPct val="115000"/>
              </a:lnSpc>
              <a:spcBef>
                <a:spcPts val="0"/>
              </a:spcBef>
              <a:spcAft>
                <a:spcPts val="0"/>
              </a:spcAft>
              <a:buClr>
                <a:srgbClr val="000000"/>
              </a:buClr>
              <a:buSzPts val="1600"/>
              <a:buChar char="○"/>
            </a:pPr>
            <a:r>
              <a:rPr lang="en">
                <a:solidFill>
                  <a:schemeClr val="dk2"/>
                </a:solidFill>
              </a:rPr>
              <a:t>Support will be a line item to produce revenue and also support the platform.</a:t>
            </a:r>
            <a:endParaRPr sz="1600">
              <a:solidFill>
                <a:srgbClr val="0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5"/>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Deployment, </a:t>
            </a:r>
            <a:r>
              <a:rPr lang="en"/>
              <a:t>training</a:t>
            </a:r>
            <a:r>
              <a:rPr lang="en"/>
              <a:t>, and </a:t>
            </a:r>
            <a:r>
              <a:rPr lang="en"/>
              <a:t>Monitoring</a:t>
            </a:r>
            <a:endParaRPr/>
          </a:p>
        </p:txBody>
      </p:sp>
      <p:sp>
        <p:nvSpPr>
          <p:cNvPr id="135" name="Google Shape;135;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00000"/>
              </a:buClr>
              <a:buSzPts val="1800"/>
              <a:buChar char="●"/>
            </a:pPr>
            <a:r>
              <a:rPr lang="en">
                <a:solidFill>
                  <a:srgbClr val="000000"/>
                </a:solidFill>
              </a:rPr>
              <a:t>Deployment</a:t>
            </a:r>
            <a:endParaRPr>
              <a:solidFill>
                <a:srgbClr val="000000"/>
              </a:solidFill>
            </a:endParaRPr>
          </a:p>
          <a:p>
            <a:pPr indent="-317500" lvl="1" marL="914400" rtl="0" algn="l">
              <a:spcBef>
                <a:spcPts val="0"/>
              </a:spcBef>
              <a:spcAft>
                <a:spcPts val="0"/>
              </a:spcAft>
              <a:buClr>
                <a:srgbClr val="000000"/>
              </a:buClr>
              <a:buSzPts val="1400"/>
              <a:buChar char="○"/>
            </a:pPr>
            <a:r>
              <a:rPr lang="en">
                <a:solidFill>
                  <a:srgbClr val="000000"/>
                </a:solidFill>
              </a:rPr>
              <a:t>BLK City Collective plan to have the website to be 100% cloud hosted</a:t>
            </a:r>
            <a:endParaRPr>
              <a:solidFill>
                <a:srgbClr val="000000"/>
              </a:solidFill>
            </a:endParaRPr>
          </a:p>
          <a:p>
            <a:pPr indent="-317500" lvl="1" marL="914400" rtl="0" algn="l">
              <a:spcBef>
                <a:spcPts val="0"/>
              </a:spcBef>
              <a:spcAft>
                <a:spcPts val="0"/>
              </a:spcAft>
              <a:buClr>
                <a:srgbClr val="000000"/>
              </a:buClr>
              <a:buSzPts val="1400"/>
              <a:buChar char="○"/>
            </a:pPr>
            <a:r>
              <a:rPr lang="en">
                <a:solidFill>
                  <a:srgbClr val="000000"/>
                </a:solidFill>
              </a:rPr>
              <a:t>While hiring other technical personnel to help manage the product while on the cloud.</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Training</a:t>
            </a:r>
            <a:endParaRPr>
              <a:solidFill>
                <a:srgbClr val="000000"/>
              </a:solidFill>
            </a:endParaRPr>
          </a:p>
          <a:p>
            <a:pPr indent="-317500" lvl="1" marL="914400" rtl="0" algn="l">
              <a:spcBef>
                <a:spcPts val="0"/>
              </a:spcBef>
              <a:spcAft>
                <a:spcPts val="0"/>
              </a:spcAft>
              <a:buClr>
                <a:srgbClr val="000000"/>
              </a:buClr>
              <a:buSzPts val="1400"/>
              <a:buChar char="○"/>
            </a:pPr>
            <a:r>
              <a:rPr lang="en">
                <a:solidFill>
                  <a:srgbClr val="000000"/>
                </a:solidFill>
              </a:rPr>
              <a:t>Documentation on how to use the website and database will be provided as well as the source code in which we used to design the website. </a:t>
            </a:r>
            <a:endParaRPr>
              <a:solidFill>
                <a:srgbClr val="000000"/>
              </a:solidFill>
            </a:endParaRPr>
          </a:p>
          <a:p>
            <a:pPr indent="-317500" lvl="1" marL="914400" rtl="0" algn="l">
              <a:spcBef>
                <a:spcPts val="0"/>
              </a:spcBef>
              <a:spcAft>
                <a:spcPts val="0"/>
              </a:spcAft>
              <a:buClr>
                <a:srgbClr val="000000"/>
              </a:buClr>
              <a:buSzPts val="1400"/>
              <a:buChar char="○"/>
            </a:pPr>
            <a:r>
              <a:rPr lang="en">
                <a:solidFill>
                  <a:srgbClr val="000000"/>
                </a:solidFill>
              </a:rPr>
              <a:t>A clickable demo and other presentations shall be left behind to serve as a reference point</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Monitoring</a:t>
            </a:r>
            <a:endParaRPr>
              <a:solidFill>
                <a:srgbClr val="000000"/>
              </a:solidFill>
            </a:endParaRPr>
          </a:p>
          <a:p>
            <a:pPr indent="-317500" lvl="1" marL="914400" rtl="0" algn="l">
              <a:spcBef>
                <a:spcPts val="0"/>
              </a:spcBef>
              <a:spcAft>
                <a:spcPts val="0"/>
              </a:spcAft>
              <a:buClr>
                <a:srgbClr val="000000"/>
              </a:buClr>
              <a:buSzPts val="1400"/>
              <a:buChar char="○"/>
            </a:pPr>
            <a:r>
              <a:rPr lang="en">
                <a:solidFill>
                  <a:srgbClr val="000000"/>
                </a:solidFill>
              </a:rPr>
              <a:t>The website will not be monitored in real time</a:t>
            </a:r>
            <a:endParaRPr>
              <a:solidFill>
                <a:srgbClr val="000000"/>
              </a:solidFill>
            </a:endParaRPr>
          </a:p>
          <a:p>
            <a:pPr indent="-317500" lvl="1" marL="914400" rtl="0" algn="l">
              <a:spcBef>
                <a:spcPts val="0"/>
              </a:spcBef>
              <a:spcAft>
                <a:spcPts val="0"/>
              </a:spcAft>
              <a:buClr>
                <a:srgbClr val="000000"/>
              </a:buClr>
              <a:buSzPts val="1400"/>
              <a:buChar char="○"/>
            </a:pPr>
            <a:r>
              <a:rPr lang="en">
                <a:solidFill>
                  <a:srgbClr val="000000"/>
                </a:solidFill>
              </a:rPr>
              <a:t>Changes will be made as users provide feedback on their user experience. </a:t>
            </a:r>
            <a:endParaRPr>
              <a:solidFill>
                <a:srgbClr val="0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6"/>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Legal</a:t>
            </a:r>
            <a:endParaRPr/>
          </a:p>
        </p:txBody>
      </p:sp>
      <p:sp>
        <p:nvSpPr>
          <p:cNvPr id="141" name="Google Shape;141;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00000"/>
              </a:buClr>
              <a:buSzPts val="1800"/>
              <a:buChar char="●"/>
            </a:pPr>
            <a:r>
              <a:rPr lang="en">
                <a:solidFill>
                  <a:srgbClr val="000000"/>
                </a:solidFill>
              </a:rPr>
              <a:t>Patent infringement and Filing</a:t>
            </a:r>
            <a:endParaRPr>
              <a:solidFill>
                <a:srgbClr val="000000"/>
              </a:solidFill>
            </a:endParaRPr>
          </a:p>
          <a:p>
            <a:pPr indent="-317500" lvl="1" marL="914400" rtl="0" algn="l">
              <a:spcBef>
                <a:spcPts val="0"/>
              </a:spcBef>
              <a:spcAft>
                <a:spcPts val="0"/>
              </a:spcAft>
              <a:buClr>
                <a:srgbClr val="000000"/>
              </a:buClr>
              <a:buSzPts val="1400"/>
              <a:buChar char="○"/>
            </a:pPr>
            <a:r>
              <a:rPr lang="en">
                <a:solidFill>
                  <a:srgbClr val="000000"/>
                </a:solidFill>
              </a:rPr>
              <a:t>Doesn’t seem to be any patent infringement at the current moment</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License</a:t>
            </a:r>
            <a:r>
              <a:rPr lang="en">
                <a:solidFill>
                  <a:srgbClr val="000000"/>
                </a:solidFill>
              </a:rPr>
              <a:t> Agreement</a:t>
            </a:r>
            <a:endParaRPr>
              <a:solidFill>
                <a:srgbClr val="000000"/>
              </a:solidFill>
            </a:endParaRPr>
          </a:p>
          <a:p>
            <a:pPr indent="-317500" lvl="1" marL="914400" rtl="0" algn="l">
              <a:lnSpc>
                <a:spcPct val="115000"/>
              </a:lnSpc>
              <a:spcBef>
                <a:spcPts val="0"/>
              </a:spcBef>
              <a:spcAft>
                <a:spcPts val="0"/>
              </a:spcAft>
              <a:buClr>
                <a:schemeClr val="dk2"/>
              </a:buClr>
              <a:buSzPts val="1400"/>
              <a:buChar char="○"/>
            </a:pPr>
            <a:r>
              <a:rPr lang="en">
                <a:solidFill>
                  <a:schemeClr val="dk2"/>
                </a:solidFill>
              </a:rPr>
              <a:t>BLK City Collective requires legal terms and conditions, in order to state how we will be using and storing people's data. This will be done by the legal team for BLK City Collective. </a:t>
            </a:r>
            <a:endParaRPr sz="1600">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Regulatory and Quality System</a:t>
            </a:r>
            <a:endParaRPr>
              <a:solidFill>
                <a:srgbClr val="000000"/>
              </a:solidFill>
            </a:endParaRPr>
          </a:p>
          <a:p>
            <a:pPr indent="-317500" lvl="1" marL="914400" rtl="0" algn="l">
              <a:lnSpc>
                <a:spcPct val="115000"/>
              </a:lnSpc>
              <a:spcBef>
                <a:spcPts val="0"/>
              </a:spcBef>
              <a:spcAft>
                <a:spcPts val="0"/>
              </a:spcAft>
              <a:buClr>
                <a:schemeClr val="dk2"/>
              </a:buClr>
              <a:buSzPts val="1400"/>
              <a:buChar char="○"/>
            </a:pPr>
            <a:r>
              <a:rPr lang="en">
                <a:solidFill>
                  <a:schemeClr val="dk2"/>
                </a:solidFill>
              </a:rPr>
              <a:t>As we know, the BLK City Collective website that we’re making does not require the aid of a regulatory or quality system. Simply put, there’s nothing that needs heavy regulation as the website servers mainly to inform the customers users about black owned businesses while providing business users a platform to effectively advertise themselves.</a:t>
            </a:r>
            <a:endParaRPr sz="1600">
              <a:solidFill>
                <a:srgbClr val="00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7"/>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Financial Justification</a:t>
            </a:r>
            <a:endParaRPr/>
          </a:p>
        </p:txBody>
      </p:sp>
      <p:sp>
        <p:nvSpPr>
          <p:cNvPr id="147" name="Google Shape;147;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Clr>
                <a:srgbClr val="000000"/>
              </a:buClr>
              <a:buSzPts val="1800"/>
              <a:buChar char="●"/>
            </a:pPr>
            <a:r>
              <a:rPr lang="en">
                <a:solidFill>
                  <a:srgbClr val="000000"/>
                </a:solidFill>
              </a:rPr>
              <a:t>Deployment Cost</a:t>
            </a:r>
            <a:endParaRPr>
              <a:solidFill>
                <a:srgbClr val="000000"/>
              </a:solidFill>
            </a:endParaRPr>
          </a:p>
          <a:p>
            <a:pPr indent="0" lvl="0" marL="457200" rtl="0" algn="l">
              <a:spcBef>
                <a:spcPts val="1200"/>
              </a:spcBef>
              <a:spcAft>
                <a:spcPts val="0"/>
              </a:spcAft>
              <a:buNone/>
            </a:pPr>
            <a:r>
              <a:t/>
            </a:r>
            <a:endParaRPr>
              <a:solidFill>
                <a:srgbClr val="000000"/>
              </a:solidFill>
            </a:endParaRPr>
          </a:p>
          <a:p>
            <a:pPr indent="0" lvl="0" marL="0" rtl="0" algn="l">
              <a:spcBef>
                <a:spcPts val="1200"/>
              </a:spcBef>
              <a:spcAft>
                <a:spcPts val="0"/>
              </a:spcAft>
              <a:buNone/>
            </a:pPr>
            <a:r>
              <a:t/>
            </a:r>
            <a:endParaRPr>
              <a:solidFill>
                <a:srgbClr val="000000"/>
              </a:solidFill>
            </a:endParaRPr>
          </a:p>
          <a:p>
            <a:pPr indent="-304800" lvl="0" marL="457200" rtl="0" algn="l">
              <a:lnSpc>
                <a:spcPct val="200000"/>
              </a:lnSpc>
              <a:spcBef>
                <a:spcPts val="120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Developer cost: 6 developers working 8 hours a week for 14 weeks at $20/hour is $13,440 with an additional 80% overhead cost on top = $24,192.</a:t>
            </a:r>
            <a:endParaRPr sz="1200">
              <a:solidFill>
                <a:schemeClr val="dk2"/>
              </a:solidFill>
              <a:latin typeface="Times New Roman"/>
              <a:ea typeface="Times New Roman"/>
              <a:cs typeface="Times New Roman"/>
              <a:sym typeface="Times New Roman"/>
            </a:endParaRPr>
          </a:p>
          <a:p>
            <a:pPr indent="-304800" lvl="0" marL="457200" rtl="0" algn="l">
              <a:lnSpc>
                <a:spcPct val="200000"/>
              </a:lnSpc>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Patent cost varies - dependent on strategy</a:t>
            </a:r>
            <a:endParaRPr sz="1200">
              <a:solidFill>
                <a:schemeClr val="dk2"/>
              </a:solidFill>
              <a:latin typeface="Times New Roman"/>
              <a:ea typeface="Times New Roman"/>
              <a:cs typeface="Times New Roman"/>
              <a:sym typeface="Times New Roman"/>
            </a:endParaRPr>
          </a:p>
          <a:p>
            <a:pPr indent="-304800" lvl="0" marL="457200" marR="28376" rtl="0" algn="l">
              <a:lnSpc>
                <a:spcPct val="200000"/>
              </a:lnSpc>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The database usage is pay as you go and is very flexible. Using higher than expected values for the Milwaukee market, Google Firebase estimates a figure of less than $11 per month.	</a:t>
            </a:r>
            <a:endParaRPr sz="1200">
              <a:solidFill>
                <a:schemeClr val="dk2"/>
              </a:solidFill>
              <a:latin typeface="Times New Roman"/>
              <a:ea typeface="Times New Roman"/>
              <a:cs typeface="Times New Roman"/>
              <a:sym typeface="Times New Roman"/>
            </a:endParaRPr>
          </a:p>
          <a:p>
            <a:pPr indent="-304800" lvl="0" marL="457200" rtl="0" algn="l">
              <a:lnSpc>
                <a:spcPct val="200000"/>
              </a:lnSpc>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BLK City Collective has no budget for this regarding development allocated at this time.</a:t>
            </a:r>
            <a:endParaRPr>
              <a:solidFill>
                <a:srgbClr val="000000"/>
              </a:solidFill>
            </a:endParaRPr>
          </a:p>
        </p:txBody>
      </p:sp>
      <p:pic>
        <p:nvPicPr>
          <p:cNvPr id="148" name="Google Shape;148;p27"/>
          <p:cNvPicPr preferRelativeResize="0"/>
          <p:nvPr/>
        </p:nvPicPr>
        <p:blipFill>
          <a:blip r:embed="rId3">
            <a:alphaModFix/>
          </a:blip>
          <a:stretch>
            <a:fillRect/>
          </a:stretch>
        </p:blipFill>
        <p:spPr>
          <a:xfrm>
            <a:off x="2813550" y="1152475"/>
            <a:ext cx="4346898" cy="11023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8"/>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Financial Rollup</a:t>
            </a:r>
            <a:endParaRPr/>
          </a:p>
        </p:txBody>
      </p:sp>
      <p:sp>
        <p:nvSpPr>
          <p:cNvPr id="154" name="Google Shape;154;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00000"/>
              </a:buClr>
              <a:buSzPts val="1800"/>
              <a:buChar char="●"/>
            </a:pPr>
            <a:r>
              <a:rPr lang="en">
                <a:solidFill>
                  <a:srgbClr val="000000"/>
                </a:solidFill>
              </a:rPr>
              <a:t>To start off, there is an expected 10K users upgrade from the MKE Black website. With other communities, organizations, and locations this number will grow. </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Future growth goals of 20 organizations with approximately 10k each, totalling 200K in future estimated users of the platform.</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Currently a flat pay model is the default. However, for larger markets such as Chicago, a service model.</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Estimated net revenue goal of $3,000/month would profit in the first year. The licensing and implementation pricing is yet to be determined, but if each organization was charged $500 dollars per month, it would take 6 organizations to profit the first year.</a:t>
            </a:r>
            <a:endParaRPr>
              <a:solidFill>
                <a:srgbClr val="0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9"/>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Demo</a:t>
            </a:r>
            <a:endParaRPr/>
          </a:p>
        </p:txBody>
      </p:sp>
      <p:sp>
        <p:nvSpPr>
          <p:cNvPr id="160" name="Google Shape;160;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2"/>
              </a:buClr>
              <a:buSzPts val="1800"/>
              <a:buChar char="●"/>
            </a:pPr>
            <a:r>
              <a:rPr lang="en">
                <a:solidFill>
                  <a:schemeClr val="dk2"/>
                </a:solidFill>
              </a:rPr>
              <a:t>The files for the demo are included in the deliverable - zip file.</a:t>
            </a:r>
            <a:endParaRPr>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To run the demo click on any of the HTML files to open up the webpages.</a:t>
            </a:r>
            <a:endParaRPr>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Link to the demo files: </a:t>
            </a:r>
            <a:r>
              <a:rPr lang="en" u="sng">
                <a:solidFill>
                  <a:schemeClr val="hlink"/>
                </a:solidFill>
                <a:hlinkClick r:id="rId3"/>
              </a:rPr>
              <a:t>https://drive.google.com/drive/folders/1FQo4EzENPeWPP7U5MU7fSq17TN6Mc4c7?usp=share_link</a:t>
            </a:r>
            <a:r>
              <a:rPr lang="en">
                <a:solidFill>
                  <a:schemeClr val="dk2"/>
                </a:solidFill>
              </a:rPr>
              <a:t> </a:t>
            </a:r>
            <a:endParaRPr>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Basic Steps: </a:t>
            </a:r>
            <a:endParaRPr>
              <a:solidFill>
                <a:srgbClr val="4A86E8"/>
              </a:solidFill>
            </a:endParaRPr>
          </a:p>
          <a:p>
            <a:pPr indent="-317500" lvl="1" marL="914400" rtl="0" algn="l">
              <a:spcBef>
                <a:spcPts val="0"/>
              </a:spcBef>
              <a:spcAft>
                <a:spcPts val="0"/>
              </a:spcAft>
              <a:buClr>
                <a:schemeClr val="dk2"/>
              </a:buClr>
              <a:buSzPts val="1400"/>
              <a:buChar char="○"/>
            </a:pPr>
            <a:r>
              <a:rPr lang="en">
                <a:solidFill>
                  <a:schemeClr val="dk2"/>
                </a:solidFill>
              </a:rPr>
              <a:t>Click on the Dropdown Arrow and then “Download”</a:t>
            </a:r>
            <a:endParaRPr>
              <a:solidFill>
                <a:schemeClr val="dk2"/>
              </a:solidFill>
            </a:endParaRPr>
          </a:p>
          <a:p>
            <a:pPr indent="-317500" lvl="1" marL="914400" rtl="0" algn="l">
              <a:spcBef>
                <a:spcPts val="0"/>
              </a:spcBef>
              <a:spcAft>
                <a:spcPts val="0"/>
              </a:spcAft>
              <a:buClr>
                <a:schemeClr val="dk2"/>
              </a:buClr>
              <a:buSzPts val="1400"/>
              <a:buChar char="○"/>
            </a:pPr>
            <a:r>
              <a:rPr lang="en">
                <a:solidFill>
                  <a:schemeClr val="dk2"/>
                </a:solidFill>
              </a:rPr>
              <a:t>Make sure all of the files are in downloaded into one folder </a:t>
            </a:r>
            <a:endParaRPr>
              <a:solidFill>
                <a:schemeClr val="dk2"/>
              </a:solidFill>
            </a:endParaRPr>
          </a:p>
          <a:p>
            <a:pPr indent="-317500" lvl="1" marL="914400" rtl="0" algn="l">
              <a:spcBef>
                <a:spcPts val="0"/>
              </a:spcBef>
              <a:spcAft>
                <a:spcPts val="0"/>
              </a:spcAft>
              <a:buClr>
                <a:schemeClr val="dk2"/>
              </a:buClr>
              <a:buSzPts val="1400"/>
              <a:buChar char="○"/>
            </a:pPr>
            <a:r>
              <a:rPr lang="en">
                <a:solidFill>
                  <a:schemeClr val="dk2"/>
                </a:solidFill>
              </a:rPr>
              <a:t>Click on 1 of the HTML Files and open it up in your favorite web browser</a:t>
            </a:r>
            <a:endParaRPr>
              <a:solidFill>
                <a:schemeClr val="dk2"/>
              </a:solidFill>
            </a:endParaRPr>
          </a:p>
          <a:p>
            <a:pPr indent="-317500" lvl="1" marL="914400" rtl="0" algn="l">
              <a:spcBef>
                <a:spcPts val="0"/>
              </a:spcBef>
              <a:spcAft>
                <a:spcPts val="0"/>
              </a:spcAft>
              <a:buClr>
                <a:schemeClr val="dk2"/>
              </a:buClr>
              <a:buSzPts val="1400"/>
              <a:buChar char="○"/>
            </a:pPr>
            <a:r>
              <a:rPr lang="en">
                <a:solidFill>
                  <a:schemeClr val="dk2"/>
                </a:solidFill>
              </a:rPr>
              <a:t>Interact! </a:t>
            </a:r>
            <a:endParaRPr>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